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סגנון ביניים 4 - הדגשה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1" autoAdjust="0"/>
    <p:restoredTop sz="94660"/>
  </p:normalViewPr>
  <p:slideViewPr>
    <p:cSldViewPr snapToGrid="0">
      <p:cViewPr varScale="1">
        <p:scale>
          <a:sx n="77" d="100"/>
          <a:sy n="77" d="100"/>
        </p:scale>
        <p:origin x="12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48A87A34-81AB-432B-8DAE-1953F412C126}" type="datetimeFigureOut">
              <a:rPr lang="en-US" dirty="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he-IL"/>
              <a:t>לחץ כדי לערוך סגנון כותרת של תבנית בסיס</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2" name="Content Placeholder 3"/>
          <p:cNvSpPr>
            <a:spLocks noGrp="1"/>
          </p:cNvSpPr>
          <p:nvPr>
            <p:ph sz="quarter" idx="13"/>
          </p:nvPr>
        </p:nvSpPr>
        <p:spPr>
          <a:xfrm>
            <a:off x="913774" y="3051012"/>
            <a:ext cx="5106027" cy="2740187"/>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3" name="Content Placeholder 5"/>
          <p:cNvSpPr>
            <a:spLocks noGrp="1"/>
          </p:cNvSpPr>
          <p:nvPr>
            <p:ph sz="quarter" idx="14"/>
          </p:nvPr>
        </p:nvSpPr>
        <p:spPr>
          <a:xfrm>
            <a:off x="6172200" y="3051012"/>
            <a:ext cx="5105401" cy="2740187"/>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8/22/2021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8/22/2021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8/22/2021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he-IL"/>
              <a:t>לחץ כדי לערוך סגנון כותרת של תבנית בסיס</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he-IL"/>
              <a:t>לחץ כדי לערוך סגנון כותרת של תבנית בסיס</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he-IL"/>
              <a:t>לחץ כדי לערוך סגנון כותרת של תבנית בסיס</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dirty="0"/>
              <a:t>8/22/2021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he-IL"/>
              <a:t>לחץ כדי לערוך סגנון כותרת של תבנית בסיס</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dirty="0"/>
              <a:t>8/22/2021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he-IL"/>
              <a:t>לחץ כדי לערוך סגנון כותרת של תבנית בסיס</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8/22/2021</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1"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r" defTabSz="914400" rtl="1"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r" defTabSz="914400" rtl="1"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r" defTabSz="914400" rtl="1"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r" defTabSz="914400" rtl="1"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r" defTabSz="914400" rtl="1"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r" defTabSz="914400" rtl="1"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r" defTabSz="914400" rtl="1"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r" defTabSz="914400" rtl="1"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r" defTabSz="914400" rtl="1"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3A0E43-A978-4FF0-9F23-41E831684E46}"/>
              </a:ext>
            </a:extLst>
          </p:cNvPr>
          <p:cNvSpPr txBox="1"/>
          <p:nvPr/>
        </p:nvSpPr>
        <p:spPr>
          <a:xfrm>
            <a:off x="4183380" y="205740"/>
            <a:ext cx="4091940" cy="646331"/>
          </a:xfrm>
          <a:prstGeom prst="rect">
            <a:avLst/>
          </a:prstGeom>
          <a:solidFill>
            <a:schemeClr val="accent6">
              <a:lumMod val="40000"/>
              <a:lumOff val="60000"/>
            </a:schemeClr>
          </a:solidFill>
          <a:ln w="28575">
            <a:solidFill>
              <a:schemeClr val="tx1"/>
            </a:solidFill>
          </a:ln>
        </p:spPr>
        <p:txBody>
          <a:bodyPr wrap="square" rtlCol="1">
            <a:spAutoFit/>
          </a:bodyPr>
          <a:lstStyle/>
          <a:p>
            <a:pPr algn="r"/>
            <a:r>
              <a:rPr lang="he-IL" sz="3600" b="1" dirty="0">
                <a:latin typeface="David" panose="020E0502060401010101" pitchFamily="34" charset="-79"/>
                <a:cs typeface="David" panose="020E0502060401010101" pitchFamily="34" charset="-79"/>
              </a:rPr>
              <a:t>הקדמה לחומש דברים:</a:t>
            </a:r>
          </a:p>
        </p:txBody>
      </p:sp>
      <p:sp>
        <p:nvSpPr>
          <p:cNvPr id="6" name="TextBox 5">
            <a:extLst>
              <a:ext uri="{FF2B5EF4-FFF2-40B4-BE49-F238E27FC236}">
                <a16:creationId xmlns:a16="http://schemas.microsoft.com/office/drawing/2014/main" id="{944A1B05-FC92-41C4-AAAD-BD53FD1D4BB1}"/>
              </a:ext>
            </a:extLst>
          </p:cNvPr>
          <p:cNvSpPr txBox="1"/>
          <p:nvPr/>
        </p:nvSpPr>
        <p:spPr>
          <a:xfrm>
            <a:off x="7303770" y="1105287"/>
            <a:ext cx="4709160" cy="4647426"/>
          </a:xfrm>
          <a:prstGeom prst="rect">
            <a:avLst/>
          </a:prstGeom>
          <a:solidFill>
            <a:schemeClr val="accent4">
              <a:lumMod val="60000"/>
              <a:lumOff val="40000"/>
            </a:schemeClr>
          </a:solidFill>
          <a:ln w="28575">
            <a:solidFill>
              <a:schemeClr val="tx1"/>
            </a:solidFill>
          </a:ln>
        </p:spPr>
        <p:txBody>
          <a:bodyPr wrap="square" rtlCol="1">
            <a:spAutoFit/>
          </a:bodyPr>
          <a:lstStyle/>
          <a:p>
            <a:pPr algn="r"/>
            <a:r>
              <a:rPr lang="he-IL" sz="3200" b="1" u="sng" dirty="0">
                <a:latin typeface="David" panose="020E0502060401010101" pitchFamily="34" charset="-79"/>
                <a:cs typeface="David" panose="020E0502060401010101" pitchFamily="34" charset="-79"/>
              </a:rPr>
              <a:t>בחומש דברים יש 11 פרשות:</a:t>
            </a:r>
          </a:p>
          <a:p>
            <a:pPr algn="r"/>
            <a:r>
              <a:rPr lang="he-IL" sz="2400" dirty="0">
                <a:latin typeface="David" panose="020E0502060401010101" pitchFamily="34" charset="-79"/>
                <a:cs typeface="David" panose="020E0502060401010101" pitchFamily="34" charset="-79"/>
              </a:rPr>
              <a:t>דברים</a:t>
            </a:r>
          </a:p>
          <a:p>
            <a:pPr algn="r"/>
            <a:r>
              <a:rPr lang="he-IL" sz="2400" dirty="0">
                <a:latin typeface="David" panose="020E0502060401010101" pitchFamily="34" charset="-79"/>
                <a:cs typeface="David" panose="020E0502060401010101" pitchFamily="34" charset="-79"/>
              </a:rPr>
              <a:t>ואתחנן</a:t>
            </a:r>
          </a:p>
          <a:p>
            <a:pPr algn="r"/>
            <a:r>
              <a:rPr lang="he-IL" sz="2400" dirty="0">
                <a:latin typeface="David" panose="020E0502060401010101" pitchFamily="34" charset="-79"/>
                <a:cs typeface="David" panose="020E0502060401010101" pitchFamily="34" charset="-79"/>
              </a:rPr>
              <a:t>עקב</a:t>
            </a:r>
          </a:p>
          <a:p>
            <a:pPr algn="r"/>
            <a:r>
              <a:rPr lang="he-IL" sz="2400" dirty="0">
                <a:latin typeface="David" panose="020E0502060401010101" pitchFamily="34" charset="-79"/>
                <a:cs typeface="David" panose="020E0502060401010101" pitchFamily="34" charset="-79"/>
              </a:rPr>
              <a:t>ראה</a:t>
            </a:r>
          </a:p>
          <a:p>
            <a:pPr algn="r"/>
            <a:r>
              <a:rPr lang="he-IL" sz="2400" dirty="0">
                <a:latin typeface="David" panose="020E0502060401010101" pitchFamily="34" charset="-79"/>
                <a:cs typeface="David" panose="020E0502060401010101" pitchFamily="34" charset="-79"/>
              </a:rPr>
              <a:t>שופטים</a:t>
            </a:r>
          </a:p>
          <a:p>
            <a:pPr algn="r"/>
            <a:r>
              <a:rPr lang="he-IL" sz="2400" dirty="0">
                <a:latin typeface="David" panose="020E0502060401010101" pitchFamily="34" charset="-79"/>
                <a:cs typeface="David" panose="020E0502060401010101" pitchFamily="34" charset="-79"/>
              </a:rPr>
              <a:t>כי תצא</a:t>
            </a:r>
          </a:p>
          <a:p>
            <a:pPr algn="r"/>
            <a:r>
              <a:rPr lang="he-IL" sz="2400" dirty="0">
                <a:latin typeface="David" panose="020E0502060401010101" pitchFamily="34" charset="-79"/>
                <a:cs typeface="David" panose="020E0502060401010101" pitchFamily="34" charset="-79"/>
              </a:rPr>
              <a:t>כי תבוא</a:t>
            </a:r>
          </a:p>
          <a:p>
            <a:pPr algn="r"/>
            <a:r>
              <a:rPr lang="he-IL" sz="2400" dirty="0">
                <a:latin typeface="David" panose="020E0502060401010101" pitchFamily="34" charset="-79"/>
                <a:cs typeface="David" panose="020E0502060401010101" pitchFamily="34" charset="-79"/>
              </a:rPr>
              <a:t>ניצבים</a:t>
            </a:r>
          </a:p>
          <a:p>
            <a:pPr algn="r"/>
            <a:r>
              <a:rPr lang="he-IL" sz="2400" dirty="0">
                <a:latin typeface="David" panose="020E0502060401010101" pitchFamily="34" charset="-79"/>
                <a:cs typeface="David" panose="020E0502060401010101" pitchFamily="34" charset="-79"/>
              </a:rPr>
              <a:t>וילך</a:t>
            </a:r>
          </a:p>
          <a:p>
            <a:pPr algn="r"/>
            <a:r>
              <a:rPr lang="he-IL" sz="2400" dirty="0">
                <a:latin typeface="David" panose="020E0502060401010101" pitchFamily="34" charset="-79"/>
                <a:cs typeface="David" panose="020E0502060401010101" pitchFamily="34" charset="-79"/>
              </a:rPr>
              <a:t>האזינו</a:t>
            </a:r>
          </a:p>
          <a:p>
            <a:pPr algn="r"/>
            <a:r>
              <a:rPr lang="he-IL" sz="2400" dirty="0">
                <a:latin typeface="David" panose="020E0502060401010101" pitchFamily="34" charset="-79"/>
                <a:cs typeface="David" panose="020E0502060401010101" pitchFamily="34" charset="-79"/>
              </a:rPr>
              <a:t>וזאת הברכה.</a:t>
            </a:r>
          </a:p>
        </p:txBody>
      </p:sp>
      <p:sp>
        <p:nvSpPr>
          <p:cNvPr id="7" name="TextBox 6">
            <a:extLst>
              <a:ext uri="{FF2B5EF4-FFF2-40B4-BE49-F238E27FC236}">
                <a16:creationId xmlns:a16="http://schemas.microsoft.com/office/drawing/2014/main" id="{D3568206-68F2-41A3-8423-9E9CECAE5C7A}"/>
              </a:ext>
            </a:extLst>
          </p:cNvPr>
          <p:cNvSpPr txBox="1"/>
          <p:nvPr/>
        </p:nvSpPr>
        <p:spPr>
          <a:xfrm>
            <a:off x="320040" y="1038344"/>
            <a:ext cx="5684520" cy="3477875"/>
          </a:xfrm>
          <a:prstGeom prst="rect">
            <a:avLst/>
          </a:prstGeom>
          <a:solidFill>
            <a:schemeClr val="accent5">
              <a:lumMod val="20000"/>
              <a:lumOff val="80000"/>
            </a:schemeClr>
          </a:solidFill>
          <a:ln w="28575">
            <a:solidFill>
              <a:schemeClr val="tx1"/>
            </a:solidFill>
          </a:ln>
        </p:spPr>
        <p:txBody>
          <a:bodyPr wrap="square" rtlCol="1">
            <a:spAutoFit/>
          </a:bodyPr>
          <a:lstStyle/>
          <a:p>
            <a:pPr algn="r"/>
            <a:r>
              <a:rPr lang="he-IL" sz="2400" dirty="0">
                <a:latin typeface="David" panose="020E0502060401010101" pitchFamily="34" charset="-79"/>
                <a:cs typeface="David" panose="020E0502060401010101" pitchFamily="34" charset="-79"/>
              </a:rPr>
              <a:t>כשאר כרכי החומש, ספר דברים נושא שם המבוסס המילה המשמעותית הראשונה המופיעה בפרק הראשון, "אלה הדברים" (דברים, א', א'). </a:t>
            </a:r>
            <a:r>
              <a:rPr lang="he-IL" sz="2400" b="1" u="sng" dirty="0">
                <a:latin typeface="David" panose="020E0502060401010101" pitchFamily="34" charset="-79"/>
                <a:cs typeface="David" panose="020E0502060401010101" pitchFamily="34" charset="-79"/>
              </a:rPr>
              <a:t>שמו הקדום </a:t>
            </a:r>
            <a:r>
              <a:rPr lang="he-IL" sz="2400" dirty="0">
                <a:latin typeface="David" panose="020E0502060401010101" pitchFamily="34" charset="-79"/>
                <a:cs typeface="David" panose="020E0502060401010101" pitchFamily="34" charset="-79"/>
              </a:rPr>
              <a:t>(מתקופת חז"ל) </a:t>
            </a:r>
            <a:r>
              <a:rPr lang="he-IL" sz="2800" b="1" u="sng" dirty="0">
                <a:latin typeface="David" panose="020E0502060401010101" pitchFamily="34" charset="-79"/>
                <a:cs typeface="David" panose="020E0502060401010101" pitchFamily="34" charset="-79"/>
              </a:rPr>
              <a:t>היה משנה תורה</a:t>
            </a:r>
            <a:r>
              <a:rPr lang="he-IL" sz="2400" dirty="0">
                <a:latin typeface="David" panose="020E0502060401010101" pitchFamily="34" charset="-79"/>
                <a:cs typeface="David" panose="020E0502060401010101" pitchFamily="34" charset="-79"/>
              </a:rPr>
              <a:t>, על פי הכתוב בו "</a:t>
            </a:r>
            <a:r>
              <a:rPr lang="he-IL" sz="2400" b="1" dirty="0">
                <a:latin typeface="David" panose="020E0502060401010101" pitchFamily="34" charset="-79"/>
                <a:cs typeface="David" panose="020E0502060401010101" pitchFamily="34" charset="-79"/>
              </a:rPr>
              <a:t>וכתב לו את משנה התורה הזאת</a:t>
            </a:r>
            <a:r>
              <a:rPr lang="he-IL" sz="2400" dirty="0">
                <a:latin typeface="David" panose="020E0502060401010101" pitchFamily="34" charset="-79"/>
                <a:cs typeface="David" panose="020E0502060401010101" pitchFamily="34" charset="-79"/>
              </a:rPr>
              <a:t>" (דברים, י"ז, י"ח). אחד ההסברים לכינוי משנה תורה הוא, משום </a:t>
            </a:r>
            <a:r>
              <a:rPr lang="he-IL" sz="2400" b="1" dirty="0">
                <a:latin typeface="David" panose="020E0502060401010101" pitchFamily="34" charset="-79"/>
                <a:cs typeface="David" panose="020E0502060401010101" pitchFamily="34" charset="-79"/>
              </a:rPr>
              <a:t>שספר דברים הוא מעין סיכום של הנאמר בארבעת הספרים הקודמים (משנה מלשון שני ושינון שחוזר על הנאמר ]</a:t>
            </a:r>
          </a:p>
        </p:txBody>
      </p:sp>
      <p:pic>
        <p:nvPicPr>
          <p:cNvPr id="8" name="תמונה 7">
            <a:extLst>
              <a:ext uri="{FF2B5EF4-FFF2-40B4-BE49-F238E27FC236}">
                <a16:creationId xmlns:a16="http://schemas.microsoft.com/office/drawing/2014/main" id="{7F916644-10F3-474E-874B-E49EDCF97CBF}"/>
              </a:ext>
            </a:extLst>
          </p:cNvPr>
          <p:cNvPicPr>
            <a:picLocks noChangeAspect="1"/>
          </p:cNvPicPr>
          <p:nvPr/>
        </p:nvPicPr>
        <p:blipFill>
          <a:blip r:embed="rId2"/>
          <a:stretch>
            <a:fillRect/>
          </a:stretch>
        </p:blipFill>
        <p:spPr>
          <a:xfrm>
            <a:off x="6604372" y="2047339"/>
            <a:ext cx="3899797" cy="2936141"/>
          </a:xfrm>
          <a:prstGeom prst="rect">
            <a:avLst/>
          </a:prstGeom>
        </p:spPr>
      </p:pic>
      <p:sp>
        <p:nvSpPr>
          <p:cNvPr id="9" name="TextBox 8">
            <a:extLst>
              <a:ext uri="{FF2B5EF4-FFF2-40B4-BE49-F238E27FC236}">
                <a16:creationId xmlns:a16="http://schemas.microsoft.com/office/drawing/2014/main" id="{1D286BAF-FD52-49A0-89A5-A6FE4D353B96}"/>
              </a:ext>
            </a:extLst>
          </p:cNvPr>
          <p:cNvSpPr txBox="1"/>
          <p:nvPr/>
        </p:nvSpPr>
        <p:spPr>
          <a:xfrm>
            <a:off x="320040" y="4702492"/>
            <a:ext cx="5599059" cy="2062103"/>
          </a:xfrm>
          <a:prstGeom prst="rect">
            <a:avLst/>
          </a:prstGeom>
          <a:blipFill>
            <a:blip r:embed="rId3"/>
            <a:tile tx="0" ty="0" sx="100000" sy="100000" flip="none" algn="tl"/>
          </a:blipFill>
          <a:ln w="38100">
            <a:solidFill>
              <a:schemeClr val="tx1"/>
            </a:solidFill>
          </a:ln>
        </p:spPr>
        <p:txBody>
          <a:bodyPr wrap="square" rtlCol="1">
            <a:spAutoFit/>
          </a:bodyPr>
          <a:lstStyle/>
          <a:p>
            <a:pPr algn="r"/>
            <a:r>
              <a:rPr lang="he-IL" sz="2000" b="1" u="sng" dirty="0">
                <a:latin typeface="David" panose="020E0502060401010101" pitchFamily="34" charset="-79"/>
                <a:cs typeface="David" panose="020E0502060401010101" pitchFamily="34" charset="-79"/>
              </a:rPr>
              <a:t>ר' משה בן מימון (הרמב"ם) </a:t>
            </a:r>
            <a:r>
              <a:rPr lang="he-IL" sz="2000" dirty="0">
                <a:latin typeface="David" panose="020E0502060401010101" pitchFamily="34" charset="-79"/>
                <a:cs typeface="David" panose="020E0502060401010101" pitchFamily="34" charset="-79"/>
              </a:rPr>
              <a:t>ליקט וסיכם את כל מצוות התורה ופרטיהן, כפי שהן </a:t>
            </a:r>
            <a:r>
              <a:rPr lang="he-IL" sz="2000" dirty="0" err="1">
                <a:latin typeface="David" panose="020E0502060401010101" pitchFamily="34" charset="-79"/>
                <a:cs typeface="David" panose="020E0502060401010101" pitchFamily="34" charset="-79"/>
              </a:rPr>
              <a:t>ניתפרשו</a:t>
            </a:r>
            <a:r>
              <a:rPr lang="he-IL" sz="2000" dirty="0">
                <a:latin typeface="David" panose="020E0502060401010101" pitchFamily="34" charset="-79"/>
                <a:cs typeface="David" panose="020E0502060401010101" pitchFamily="34" charset="-79"/>
              </a:rPr>
              <a:t> במשנה ובתלמוד לספר אחד שנקרא </a:t>
            </a:r>
            <a:r>
              <a:rPr lang="he-IL" sz="2400" b="1" dirty="0">
                <a:highlight>
                  <a:srgbClr val="FFFF00"/>
                </a:highlight>
                <a:latin typeface="David" panose="020E0502060401010101" pitchFamily="34" charset="-79"/>
                <a:cs typeface="David" panose="020E0502060401010101" pitchFamily="34" charset="-79"/>
              </a:rPr>
              <a:t>"משנה תורה" </a:t>
            </a:r>
          </a:p>
          <a:p>
            <a:pPr algn="r"/>
            <a:r>
              <a:rPr lang="he-IL" sz="2000" dirty="0">
                <a:latin typeface="David" panose="020E0502060401010101" pitchFamily="34" charset="-79"/>
                <a:cs typeface="David" panose="020E0502060401010101" pitchFamily="34" charset="-79"/>
              </a:rPr>
              <a:t>ספרו זה נקרא גם </a:t>
            </a:r>
            <a:r>
              <a:rPr lang="he-IL" sz="2400" b="1" dirty="0">
                <a:highlight>
                  <a:srgbClr val="FFFF00"/>
                </a:highlight>
                <a:latin typeface="David" panose="020E0502060401010101" pitchFamily="34" charset="-79"/>
                <a:cs typeface="David" panose="020E0502060401010101" pitchFamily="34" charset="-79"/>
              </a:rPr>
              <a:t>"היד החזקה" </a:t>
            </a:r>
            <a:r>
              <a:rPr lang="he-IL" sz="2000" dirty="0">
                <a:latin typeface="David" panose="020E0502060401010101" pitchFamily="34" charset="-79"/>
                <a:cs typeface="David" panose="020E0502060401010101" pitchFamily="34" charset="-79"/>
              </a:rPr>
              <a:t>על שם הפסוק האחרון בחומש דברים </a:t>
            </a:r>
          </a:p>
          <a:p>
            <a:pPr algn="r"/>
            <a:r>
              <a:rPr lang="he-IL" sz="2000" dirty="0">
                <a:latin typeface="David" panose="020E0502060401010101" pitchFamily="34" charset="-79"/>
                <a:cs typeface="David" panose="020E0502060401010101" pitchFamily="34" charset="-79"/>
              </a:rPr>
              <a:t>"ולכל היד החזקה ולכל המורא הגדול... לעיני כל ישראל".</a:t>
            </a:r>
          </a:p>
        </p:txBody>
      </p:sp>
    </p:spTree>
    <p:extLst>
      <p:ext uri="{BB962C8B-B14F-4D97-AF65-F5344CB8AC3E}">
        <p14:creationId xmlns:p14="http://schemas.microsoft.com/office/powerpoint/2010/main" val="328582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5C19D-7BEC-4D36-97D1-1CF34DBD7E56}"/>
              </a:ext>
            </a:extLst>
          </p:cNvPr>
          <p:cNvSpPr txBox="1"/>
          <p:nvPr/>
        </p:nvSpPr>
        <p:spPr>
          <a:xfrm>
            <a:off x="3188970" y="167640"/>
            <a:ext cx="8835390" cy="5693866"/>
          </a:xfrm>
          <a:prstGeom prst="rect">
            <a:avLst/>
          </a:prstGeom>
          <a:solidFill>
            <a:schemeClr val="accent5">
              <a:lumMod val="60000"/>
              <a:lumOff val="40000"/>
            </a:schemeClr>
          </a:solidFill>
          <a:ln w="28575">
            <a:solidFill>
              <a:schemeClr val="tx1"/>
            </a:solidFill>
          </a:ln>
        </p:spPr>
        <p:txBody>
          <a:bodyPr wrap="square" rtlCol="1">
            <a:spAutoFit/>
          </a:bodyPr>
          <a:lstStyle/>
          <a:p>
            <a:pPr algn="r"/>
            <a:r>
              <a:rPr lang="he-IL" sz="2800" b="1" u="sng" dirty="0">
                <a:latin typeface="David" panose="020E0502060401010101" pitchFamily="34" charset="-79"/>
                <a:cs typeface="David" panose="020E0502060401010101" pitchFamily="34" charset="-79"/>
              </a:rPr>
              <a:t>הרמב"ן בהקדמה:</a:t>
            </a:r>
          </a:p>
          <a:p>
            <a:pPr algn="r"/>
            <a:r>
              <a:rPr lang="he-IL" sz="2400" b="1" dirty="0">
                <a:latin typeface="David" panose="020E0502060401010101" pitchFamily="34" charset="-79"/>
                <a:cs typeface="David" panose="020E0502060401010101" pitchFamily="34" charset="-79"/>
              </a:rPr>
              <a:t>הספר הזה עניינו ידוע שהוא משנה תורה</a:t>
            </a:r>
          </a:p>
          <a:p>
            <a:pPr algn="r"/>
            <a:r>
              <a:rPr lang="he-IL" sz="2400" b="1" dirty="0">
                <a:highlight>
                  <a:srgbClr val="FFFF00"/>
                </a:highlight>
                <a:latin typeface="David" panose="020E0502060401010101" pitchFamily="34" charset="-79"/>
                <a:cs typeface="David" panose="020E0502060401010101" pitchFamily="34" charset="-79"/>
              </a:rPr>
              <a:t>יבאר בו משה רבינו לדור הנכנס בארץ רוב מצוות התורה הצריכות לישראל, </a:t>
            </a:r>
          </a:p>
          <a:p>
            <a:pPr algn="r"/>
            <a:r>
              <a:rPr lang="he-IL" sz="2400" dirty="0">
                <a:latin typeface="David" panose="020E0502060401010101" pitchFamily="34" charset="-79"/>
                <a:cs typeface="David" panose="020E0502060401010101" pitchFamily="34" charset="-79"/>
              </a:rPr>
              <a:t>ולא יזכיר בו דבר בתורת כוהנים ולא במעשה הקורבנות ולא בטהרת הכוהנים ובמעשיהם שכבר ביאר אותם להם.</a:t>
            </a:r>
          </a:p>
          <a:p>
            <a:pPr algn="r"/>
            <a:r>
              <a:rPr lang="he-IL" sz="2400" dirty="0">
                <a:latin typeface="David" panose="020E0502060401010101" pitchFamily="34" charset="-79"/>
                <a:cs typeface="David" panose="020E0502060401010101" pitchFamily="34" charset="-79"/>
              </a:rPr>
              <a:t>והכוהנים זריזים הם ולא יצטרכו לאזהרה אחר אזהרה, </a:t>
            </a:r>
            <a:r>
              <a:rPr lang="he-IL" sz="2400" b="1" dirty="0">
                <a:highlight>
                  <a:srgbClr val="FFFF00"/>
                </a:highlight>
                <a:latin typeface="David" panose="020E0502060401010101" pitchFamily="34" charset="-79"/>
                <a:cs typeface="David" panose="020E0502060401010101" pitchFamily="34" charset="-79"/>
              </a:rPr>
              <a:t>אבל בישראל יחזיר המצוות הנוהגות בהם פעם להוסיף בהם ביאור ופעם שלא יחזיר אותם רק להזהיר את ישראל ברוב אזהרות</a:t>
            </a:r>
            <a:r>
              <a:rPr lang="he-IL" sz="2400" dirty="0">
                <a:latin typeface="David" panose="020E0502060401010101" pitchFamily="34" charset="-79"/>
                <a:cs typeface="David" panose="020E0502060401010101" pitchFamily="34" charset="-79"/>
              </a:rPr>
              <a:t> כמו שיבואו בספר הזה </a:t>
            </a:r>
            <a:r>
              <a:rPr lang="he-IL" sz="2400" dirty="0" err="1">
                <a:latin typeface="David" panose="020E0502060401010101" pitchFamily="34" charset="-79"/>
                <a:cs typeface="David" panose="020E0502060401010101" pitchFamily="34" charset="-79"/>
              </a:rPr>
              <a:t>בעניני</a:t>
            </a:r>
            <a:r>
              <a:rPr lang="he-IL" sz="2400" dirty="0">
                <a:latin typeface="David" panose="020E0502060401010101" pitchFamily="34" charset="-79"/>
                <a:cs typeface="David" panose="020E0502060401010101" pitchFamily="34" charset="-79"/>
              </a:rPr>
              <a:t> עבודת גילולים. אזהרות מרובות זו אחר זו בתוכחות וקול פחדים אשר יפחיד אותם בכל עונשי העבירות. </a:t>
            </a:r>
          </a:p>
          <a:p>
            <a:pPr algn="r"/>
            <a:r>
              <a:rPr lang="he-IL" sz="2400" b="1" dirty="0">
                <a:highlight>
                  <a:srgbClr val="FFFF00"/>
                </a:highlight>
                <a:latin typeface="David" panose="020E0502060401010101" pitchFamily="34" charset="-79"/>
                <a:cs typeface="David" panose="020E0502060401010101" pitchFamily="34" charset="-79"/>
              </a:rPr>
              <a:t>ועוד יוסיף בספר הזה כמה מצוות שלא נזכרו </a:t>
            </a:r>
            <a:r>
              <a:rPr lang="he-IL" sz="2400" dirty="0">
                <a:latin typeface="David" panose="020E0502060401010101" pitchFamily="34" charset="-79"/>
                <a:cs typeface="David" panose="020E0502060401010101" pitchFamily="34" charset="-79"/>
              </a:rPr>
              <a:t>כלל כגון </a:t>
            </a:r>
            <a:r>
              <a:rPr lang="he-IL" sz="2400" dirty="0" err="1">
                <a:latin typeface="David" panose="020E0502060401010101" pitchFamily="34" charset="-79"/>
                <a:cs typeface="David" panose="020E0502060401010101" pitchFamily="34" charset="-79"/>
              </a:rPr>
              <a:t>היבום</a:t>
            </a:r>
            <a:r>
              <a:rPr lang="he-IL" sz="2400" dirty="0">
                <a:latin typeface="David" panose="020E0502060401010101" pitchFamily="34" charset="-79"/>
                <a:cs typeface="David" panose="020E0502060401010101" pitchFamily="34" charset="-79"/>
              </a:rPr>
              <a:t> ודין המוציא שם רע </a:t>
            </a:r>
            <a:r>
              <a:rPr lang="he-IL" sz="2400" dirty="0" err="1">
                <a:latin typeface="David" panose="020E0502060401010101" pitchFamily="34" charset="-79"/>
                <a:cs typeface="David" panose="020E0502060401010101" pitchFamily="34" charset="-79"/>
              </a:rPr>
              <a:t>והגרושין</a:t>
            </a:r>
            <a:r>
              <a:rPr lang="he-IL" sz="2400" dirty="0">
                <a:latin typeface="David" panose="020E0502060401010101" pitchFamily="34" charset="-79"/>
                <a:cs typeface="David" panose="020E0502060401010101" pitchFamily="34" charset="-79"/>
              </a:rPr>
              <a:t> באישה ועדים </a:t>
            </a:r>
            <a:r>
              <a:rPr lang="he-IL" sz="2400" dirty="0" err="1">
                <a:latin typeface="David" panose="020E0502060401010101" pitchFamily="34" charset="-79"/>
                <a:cs typeface="David" panose="020E0502060401010101" pitchFamily="34" charset="-79"/>
              </a:rPr>
              <a:t>זוממין</a:t>
            </a:r>
            <a:r>
              <a:rPr lang="he-IL" sz="2400" dirty="0">
                <a:latin typeface="David" panose="020E0502060401010101" pitchFamily="34" charset="-79"/>
                <a:cs typeface="David" panose="020E0502060401010101" pitchFamily="34" charset="-79"/>
              </a:rPr>
              <a:t> וזולתו. וכבר נאמרו לו כולן בסיני או באוהל מועד בשנה הראשונה קודם המרגלים, כי בערבות מואב לא </a:t>
            </a:r>
            <a:r>
              <a:rPr lang="he-IL" sz="2400" dirty="0" err="1">
                <a:latin typeface="David" panose="020E0502060401010101" pitchFamily="34" charset="-79"/>
                <a:cs typeface="David" panose="020E0502060401010101" pitchFamily="34" charset="-79"/>
              </a:rPr>
              <a:t>נתחדשו</a:t>
            </a:r>
            <a:r>
              <a:rPr lang="he-IL" sz="2400" dirty="0">
                <a:latin typeface="David" panose="020E0502060401010101" pitchFamily="34" charset="-79"/>
                <a:cs typeface="David" panose="020E0502060401010101" pitchFamily="34" charset="-79"/>
              </a:rPr>
              <a:t> לו אלא דברי </a:t>
            </a:r>
            <a:r>
              <a:rPr lang="he-IL" sz="2400" dirty="0" err="1">
                <a:latin typeface="David" panose="020E0502060401010101" pitchFamily="34" charset="-79"/>
                <a:cs typeface="David" panose="020E0502060401010101" pitchFamily="34" charset="-79"/>
              </a:rPr>
              <a:t>הבריתמכאשר</a:t>
            </a:r>
            <a:r>
              <a:rPr lang="he-IL" sz="2400" dirty="0">
                <a:latin typeface="David" panose="020E0502060401010101" pitchFamily="34" charset="-79"/>
                <a:cs typeface="David" panose="020E0502060401010101" pitchFamily="34" charset="-79"/>
              </a:rPr>
              <a:t> נתפרש בו, ועל כן לא נאמר בספר הזה "וידבר ה' אל משה לאמור.. או דבר אל בני ישראל ואמרת אליהם מצווה פלונית. </a:t>
            </a:r>
          </a:p>
        </p:txBody>
      </p:sp>
      <p:pic>
        <p:nvPicPr>
          <p:cNvPr id="3" name="תמונה 2">
            <a:extLst>
              <a:ext uri="{FF2B5EF4-FFF2-40B4-BE49-F238E27FC236}">
                <a16:creationId xmlns:a16="http://schemas.microsoft.com/office/drawing/2014/main" id="{5E28C9F2-995C-4817-B2CC-8CB3FE45BC95}"/>
              </a:ext>
            </a:extLst>
          </p:cNvPr>
          <p:cNvPicPr>
            <a:picLocks noChangeAspect="1"/>
          </p:cNvPicPr>
          <p:nvPr/>
        </p:nvPicPr>
        <p:blipFill rotWithShape="1">
          <a:blip r:embed="rId2"/>
          <a:srcRect l="26217" r="22819" b="1753"/>
          <a:stretch/>
        </p:blipFill>
        <p:spPr>
          <a:xfrm>
            <a:off x="167640" y="0"/>
            <a:ext cx="2777491" cy="4010529"/>
          </a:xfrm>
          <a:prstGeom prst="rect">
            <a:avLst/>
          </a:prstGeom>
          <a:scene3d>
            <a:camera prst="isometricOffAxis1Right"/>
            <a:lightRig rig="threePt" dir="t"/>
          </a:scene3d>
        </p:spPr>
      </p:pic>
    </p:spTree>
    <p:extLst>
      <p:ext uri="{BB962C8B-B14F-4D97-AF65-F5344CB8AC3E}">
        <p14:creationId xmlns:p14="http://schemas.microsoft.com/office/powerpoint/2010/main" val="820009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AACE8F-D042-4980-B108-D42E190E976E}"/>
              </a:ext>
            </a:extLst>
          </p:cNvPr>
          <p:cNvSpPr txBox="1"/>
          <p:nvPr/>
        </p:nvSpPr>
        <p:spPr>
          <a:xfrm>
            <a:off x="251460" y="167640"/>
            <a:ext cx="11772900" cy="5755422"/>
          </a:xfrm>
          <a:prstGeom prst="rect">
            <a:avLst/>
          </a:prstGeom>
          <a:solidFill>
            <a:schemeClr val="accent5">
              <a:lumMod val="60000"/>
              <a:lumOff val="40000"/>
            </a:schemeClr>
          </a:solidFill>
          <a:ln w="28575">
            <a:solidFill>
              <a:schemeClr val="tx1"/>
            </a:solidFill>
          </a:ln>
        </p:spPr>
        <p:txBody>
          <a:bodyPr wrap="square" rtlCol="1">
            <a:spAutoFit/>
          </a:bodyPr>
          <a:lstStyle/>
          <a:p>
            <a:pPr algn="r"/>
            <a:r>
              <a:rPr lang="he-IL" sz="3600" b="1" u="sng" dirty="0">
                <a:latin typeface="David" panose="020E0502060401010101" pitchFamily="34" charset="-79"/>
                <a:cs typeface="David" panose="020E0502060401010101" pitchFamily="34" charset="-79"/>
              </a:rPr>
              <a:t>שאלות על הרמב"ן:</a:t>
            </a:r>
            <a:endParaRPr lang="he-IL" sz="4000" b="1" u="sng" dirty="0">
              <a:latin typeface="David" panose="020E0502060401010101" pitchFamily="34" charset="-79"/>
              <a:cs typeface="David" panose="020E0502060401010101" pitchFamily="34" charset="-79"/>
            </a:endParaRPr>
          </a:p>
          <a:p>
            <a:pPr algn="r"/>
            <a:r>
              <a:rPr lang="he-IL" sz="2400" b="1" u="sng" dirty="0">
                <a:latin typeface="David" panose="020E0502060401010101" pitchFamily="34" charset="-79"/>
                <a:cs typeface="David" panose="020E0502060401010101" pitchFamily="34" charset="-79"/>
              </a:rPr>
              <a:t>א. בני ישראל עומדים לפני הכניסה לארץ, וספר דברים בא להכין אותם לחיים בארץ</a:t>
            </a:r>
          </a:p>
          <a:p>
            <a:pPr algn="r"/>
            <a:r>
              <a:rPr lang="he-IL" sz="2400" b="1" u="sng" dirty="0">
                <a:latin typeface="David" panose="020E0502060401010101" pitchFamily="34" charset="-79"/>
                <a:cs typeface="David" panose="020E0502060401010101" pitchFamily="34" charset="-79"/>
              </a:rPr>
              <a:t>  אלו מצוות ואזהרות חשוב יהיה להזכיר בספר זה? </a:t>
            </a:r>
          </a:p>
          <a:p>
            <a:pPr algn="r"/>
            <a:r>
              <a:rPr lang="he-IL" sz="2400" dirty="0">
                <a:latin typeface="David" panose="020E0502060401010101" pitchFamily="34" charset="-79"/>
                <a:cs typeface="David" panose="020E0502060401010101" pitchFamily="34" charset="-79"/>
              </a:rPr>
              <a:t>   </a:t>
            </a:r>
            <a:r>
              <a:rPr lang="he-IL" sz="2800" b="1" dirty="0">
                <a:highlight>
                  <a:srgbClr val="FFFF00"/>
                </a:highlight>
                <a:latin typeface="David" panose="020E0502060401010101" pitchFamily="34" charset="-79"/>
                <a:cs typeface="David" panose="020E0502060401010101" pitchFamily="34" charset="-79"/>
              </a:rPr>
              <a:t>תשובה: רוב מצוות התורה הצריכות לעם ישראל  </a:t>
            </a:r>
          </a:p>
          <a:p>
            <a:pPr algn="r"/>
            <a:endParaRPr lang="he-IL" sz="2400" dirty="0">
              <a:latin typeface="David" panose="020E0502060401010101" pitchFamily="34" charset="-79"/>
              <a:cs typeface="David" panose="020E0502060401010101" pitchFamily="34" charset="-79"/>
            </a:endParaRPr>
          </a:p>
          <a:p>
            <a:pPr algn="r"/>
            <a:r>
              <a:rPr lang="he-IL" sz="2400" b="1" u="sng" dirty="0">
                <a:latin typeface="David" panose="020E0502060401010101" pitchFamily="34" charset="-79"/>
                <a:cs typeface="David" panose="020E0502060401010101" pitchFamily="34" charset="-79"/>
              </a:rPr>
              <a:t>ב. אלו מצוות אינן מוזכרות כלל בחומש דברים? </a:t>
            </a:r>
          </a:p>
          <a:p>
            <a:pPr algn="r"/>
            <a:r>
              <a:rPr lang="he-IL" sz="2400" dirty="0">
                <a:latin typeface="David" panose="020E0502060401010101" pitchFamily="34" charset="-79"/>
                <a:cs typeface="David" panose="020E0502060401010101" pitchFamily="34" charset="-79"/>
              </a:rPr>
              <a:t>  </a:t>
            </a:r>
            <a:r>
              <a:rPr lang="he-IL" sz="2800" b="1" dirty="0">
                <a:highlight>
                  <a:srgbClr val="FFFF00"/>
                </a:highlight>
                <a:latin typeface="David" panose="020E0502060401010101" pitchFamily="34" charset="-79"/>
                <a:cs typeface="David" panose="020E0502060401010101" pitchFamily="34" charset="-79"/>
              </a:rPr>
              <a:t>תשובה: מצוות הכהונה ומעשה הקורבנות וטהרת </a:t>
            </a:r>
            <a:r>
              <a:rPr lang="he-IL" sz="2800" b="1" dirty="0" err="1">
                <a:highlight>
                  <a:srgbClr val="FFFF00"/>
                </a:highlight>
                <a:latin typeface="David" panose="020E0502060401010101" pitchFamily="34" charset="-79"/>
                <a:cs typeface="David" panose="020E0502060401010101" pitchFamily="34" charset="-79"/>
              </a:rPr>
              <a:t>הכהנים</a:t>
            </a:r>
            <a:r>
              <a:rPr lang="he-IL" sz="2800" b="1" dirty="0">
                <a:highlight>
                  <a:srgbClr val="FFFF00"/>
                </a:highlight>
                <a:latin typeface="David" panose="020E0502060401010101" pitchFamily="34" charset="-79"/>
                <a:cs typeface="David" panose="020E0502060401010101" pitchFamily="34" charset="-79"/>
              </a:rPr>
              <a:t>.</a:t>
            </a:r>
          </a:p>
          <a:p>
            <a:pPr algn="r"/>
            <a:endParaRPr lang="he-IL" sz="2400" dirty="0">
              <a:latin typeface="David" panose="020E0502060401010101" pitchFamily="34" charset="-79"/>
              <a:cs typeface="David" panose="020E0502060401010101" pitchFamily="34" charset="-79"/>
            </a:endParaRPr>
          </a:p>
          <a:p>
            <a:pPr algn="r"/>
            <a:r>
              <a:rPr lang="he-IL" sz="2400" b="1" u="sng" dirty="0">
                <a:latin typeface="David" panose="020E0502060401010101" pitchFamily="34" charset="-79"/>
                <a:cs typeface="David" panose="020E0502060401010101" pitchFamily="34" charset="-79"/>
              </a:rPr>
              <a:t>ג. מנו שלוש מצוות המוזכרות לראשונה בחומש דברים?</a:t>
            </a:r>
          </a:p>
          <a:p>
            <a:pPr algn="r"/>
            <a:r>
              <a:rPr lang="he-IL" sz="2800" b="1" dirty="0">
                <a:highlight>
                  <a:srgbClr val="FFFF00"/>
                </a:highlight>
                <a:latin typeface="David" panose="020E0502060401010101" pitchFamily="34" charset="-79"/>
                <a:cs typeface="David" panose="020E0502060401010101" pitchFamily="34" charset="-79"/>
              </a:rPr>
              <a:t> תשובה: מצוות ייבום,  דין מוציא שם רע,  ועדים </a:t>
            </a:r>
            <a:r>
              <a:rPr lang="he-IL" sz="2800" b="1" dirty="0" err="1">
                <a:highlight>
                  <a:srgbClr val="FFFF00"/>
                </a:highlight>
                <a:latin typeface="David" panose="020E0502060401010101" pitchFamily="34" charset="-79"/>
                <a:cs typeface="David" panose="020E0502060401010101" pitchFamily="34" charset="-79"/>
              </a:rPr>
              <a:t>זוממין</a:t>
            </a:r>
            <a:r>
              <a:rPr lang="he-IL" sz="2800" b="1" dirty="0">
                <a:highlight>
                  <a:srgbClr val="FFFF00"/>
                </a:highlight>
                <a:latin typeface="David" panose="020E0502060401010101" pitchFamily="34" charset="-79"/>
                <a:cs typeface="David" panose="020E0502060401010101" pitchFamily="34" charset="-79"/>
              </a:rPr>
              <a:t>  </a:t>
            </a:r>
          </a:p>
          <a:p>
            <a:pPr algn="r"/>
            <a:endParaRPr lang="he-IL" sz="2400" dirty="0">
              <a:latin typeface="David" panose="020E0502060401010101" pitchFamily="34" charset="-79"/>
              <a:cs typeface="David" panose="020E0502060401010101" pitchFamily="34" charset="-79"/>
            </a:endParaRPr>
          </a:p>
          <a:p>
            <a:pPr algn="r"/>
            <a:r>
              <a:rPr lang="he-IL" sz="2400" b="1" u="sng" dirty="0">
                <a:latin typeface="David" panose="020E0502060401010101" pitchFamily="34" charset="-79"/>
                <a:cs typeface="David" panose="020E0502060401010101" pitchFamily="34" charset="-79"/>
              </a:rPr>
              <a:t>ד. בחומש דברים לא נמצא את הפתיחה "וידבר ה' אל משה </a:t>
            </a:r>
            <a:r>
              <a:rPr lang="he-IL" sz="2400" b="1" u="sng" dirty="0" err="1">
                <a:latin typeface="David" panose="020E0502060401010101" pitchFamily="34" charset="-79"/>
                <a:cs typeface="David" panose="020E0502060401010101" pitchFamily="34" charset="-79"/>
              </a:rPr>
              <a:t>לאמר</a:t>
            </a:r>
            <a:r>
              <a:rPr lang="he-IL" sz="2400" b="1" u="sng" dirty="0">
                <a:latin typeface="David" panose="020E0502060401010101" pitchFamily="34" charset="-79"/>
                <a:cs typeface="David" panose="020E0502060401010101" pitchFamily="34" charset="-79"/>
              </a:rPr>
              <a:t>.." מדוע?</a:t>
            </a:r>
          </a:p>
          <a:p>
            <a:pPr algn="r"/>
            <a:r>
              <a:rPr lang="he-IL" sz="2800" b="1" dirty="0">
                <a:highlight>
                  <a:srgbClr val="FFFF00"/>
                </a:highlight>
                <a:latin typeface="David" panose="020E0502060401010101" pitchFamily="34" charset="-79"/>
                <a:cs typeface="David" panose="020E0502060401010101" pitchFamily="34" charset="-79"/>
              </a:rPr>
              <a:t>מכיוון שכל מה שנאמר בחומש דברים נאמר בערבות מואב ושם לא התחדש למשה כלום חוץ מדברי הברית</a:t>
            </a:r>
            <a:r>
              <a:rPr lang="en-US" sz="2800" b="1" dirty="0">
                <a:highlight>
                  <a:srgbClr val="FFFF00"/>
                </a:highlight>
                <a:latin typeface="David" panose="020E0502060401010101" pitchFamily="34" charset="-79"/>
                <a:cs typeface="David" panose="020E0502060401010101" pitchFamily="34" charset="-79"/>
              </a:rPr>
              <a:t> </a:t>
            </a:r>
            <a:endParaRPr lang="he-IL" sz="2800" b="1" dirty="0">
              <a:highlight>
                <a:srgbClr val="FFFF00"/>
              </a:highlight>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41840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6" end="6"/>
                                            </p:txEl>
                                          </p:spTgt>
                                        </p:tgtEl>
                                        <p:attrNameLst>
                                          <p:attrName>style.visibility</p:attrName>
                                        </p:attrNameLst>
                                      </p:cBhvr>
                                      <p:to>
                                        <p:strVal val="visible"/>
                                      </p:to>
                                    </p:set>
                                    <p:anim calcmode="lin" valueType="num">
                                      <p:cBhvr additive="base">
                                        <p:cTn id="14"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xEl>
                                              <p:pRg st="9" end="9"/>
                                            </p:txEl>
                                          </p:spTgt>
                                        </p:tgtEl>
                                        <p:attrNameLst>
                                          <p:attrName>style.visibility</p:attrName>
                                        </p:attrNameLst>
                                      </p:cBhvr>
                                      <p:to>
                                        <p:strVal val="visible"/>
                                      </p:to>
                                    </p:set>
                                    <p:animEffect transition="in" filter="barn(inVertical)">
                                      <p:cBhvr>
                                        <p:cTn id="20" dur="500"/>
                                        <p:tgtEl>
                                          <p:spTgt spid="4">
                                            <p:txEl>
                                              <p:pRg st="9" end="9"/>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
                                            <p:txEl>
                                              <p:pRg st="12" end="12"/>
                                            </p:txEl>
                                          </p:spTgt>
                                        </p:tgtEl>
                                        <p:attrNameLst>
                                          <p:attrName>style.visibility</p:attrName>
                                        </p:attrNameLst>
                                      </p:cBhvr>
                                      <p:to>
                                        <p:strVal val="visible"/>
                                      </p:to>
                                    </p:set>
                                    <p:animEffect transition="in" filter="wipe(down)">
                                      <p:cBhvr>
                                        <p:cTn id="25"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C0FCB6-F338-4D04-91CA-8E8DC073BAE2}"/>
              </a:ext>
            </a:extLst>
          </p:cNvPr>
          <p:cNvSpPr txBox="1"/>
          <p:nvPr/>
        </p:nvSpPr>
        <p:spPr>
          <a:xfrm>
            <a:off x="4011930" y="262890"/>
            <a:ext cx="4732020" cy="646331"/>
          </a:xfrm>
          <a:prstGeom prst="rect">
            <a:avLst/>
          </a:prstGeom>
          <a:solidFill>
            <a:schemeClr val="accent4">
              <a:lumMod val="20000"/>
              <a:lumOff val="80000"/>
            </a:schemeClr>
          </a:solidFill>
          <a:ln w="38100">
            <a:solidFill>
              <a:schemeClr val="tx1"/>
            </a:solidFill>
          </a:ln>
        </p:spPr>
        <p:txBody>
          <a:bodyPr wrap="square" rtlCol="1">
            <a:spAutoFit/>
          </a:bodyPr>
          <a:lstStyle/>
          <a:p>
            <a:pPr algn="ctr"/>
            <a:r>
              <a:rPr lang="he-IL" sz="3600" b="1" dirty="0">
                <a:latin typeface="David" panose="020E0502060401010101" pitchFamily="34" charset="-79"/>
                <a:cs typeface="David" panose="020E0502060401010101" pitchFamily="34" charset="-79"/>
              </a:rPr>
              <a:t>מבנה ספר דברים:</a:t>
            </a:r>
          </a:p>
        </p:txBody>
      </p:sp>
      <p:sp>
        <p:nvSpPr>
          <p:cNvPr id="4" name="TextBox 3">
            <a:extLst>
              <a:ext uri="{FF2B5EF4-FFF2-40B4-BE49-F238E27FC236}">
                <a16:creationId xmlns:a16="http://schemas.microsoft.com/office/drawing/2014/main" id="{A522F065-6EC8-4F70-98FE-F01FA240CF27}"/>
              </a:ext>
            </a:extLst>
          </p:cNvPr>
          <p:cNvSpPr txBox="1"/>
          <p:nvPr/>
        </p:nvSpPr>
        <p:spPr>
          <a:xfrm>
            <a:off x="9018270" y="599515"/>
            <a:ext cx="3006090" cy="1918811"/>
          </a:xfrm>
          <a:prstGeom prst="verticalScroll">
            <a:avLst/>
          </a:prstGeom>
          <a:solidFill>
            <a:schemeClr val="accent1">
              <a:lumMod val="40000"/>
              <a:lumOff val="60000"/>
            </a:schemeClr>
          </a:solidFill>
          <a:ln w="28575">
            <a:solidFill>
              <a:schemeClr val="tx1"/>
            </a:solidFill>
          </a:ln>
        </p:spPr>
        <p:txBody>
          <a:bodyPr wrap="square" rtlCol="1">
            <a:spAutoFit/>
          </a:bodyPr>
          <a:lstStyle/>
          <a:p>
            <a:pPr algn="r"/>
            <a:r>
              <a:rPr lang="he-IL" sz="3200" b="1" dirty="0">
                <a:latin typeface="David" panose="020E0502060401010101" pitchFamily="34" charset="-79"/>
                <a:cs typeface="David" panose="020E0502060401010101" pitchFamily="34" charset="-79"/>
              </a:rPr>
              <a:t>פרקים א'-ד':</a:t>
            </a:r>
          </a:p>
          <a:p>
            <a:pPr algn="r"/>
            <a:r>
              <a:rPr lang="he-IL" sz="3600" dirty="0">
                <a:latin typeface="David" panose="020E0502060401010101" pitchFamily="34" charset="-79"/>
                <a:cs typeface="David" panose="020E0502060401010101" pitchFamily="34" charset="-79"/>
              </a:rPr>
              <a:t>נאום התוכחה</a:t>
            </a:r>
          </a:p>
          <a:p>
            <a:pPr algn="r"/>
            <a:endParaRPr lang="he-IL" sz="2800" dirty="0">
              <a:latin typeface="David" panose="020E0502060401010101" pitchFamily="34" charset="-79"/>
              <a:cs typeface="David" panose="020E0502060401010101" pitchFamily="34" charset="-79"/>
            </a:endParaRPr>
          </a:p>
        </p:txBody>
      </p:sp>
      <p:sp>
        <p:nvSpPr>
          <p:cNvPr id="5" name="TextBox 4">
            <a:extLst>
              <a:ext uri="{FF2B5EF4-FFF2-40B4-BE49-F238E27FC236}">
                <a16:creationId xmlns:a16="http://schemas.microsoft.com/office/drawing/2014/main" id="{B31F675A-99F6-4456-B4AB-8DD1CAD6D546}"/>
              </a:ext>
            </a:extLst>
          </p:cNvPr>
          <p:cNvSpPr txBox="1"/>
          <p:nvPr/>
        </p:nvSpPr>
        <p:spPr>
          <a:xfrm>
            <a:off x="6096000" y="1558920"/>
            <a:ext cx="3006090" cy="1918811"/>
          </a:xfrm>
          <a:prstGeom prst="verticalScroll">
            <a:avLst/>
          </a:prstGeom>
          <a:solidFill>
            <a:schemeClr val="accent3">
              <a:lumMod val="60000"/>
              <a:lumOff val="40000"/>
            </a:schemeClr>
          </a:solidFill>
          <a:ln w="28575">
            <a:solidFill>
              <a:schemeClr val="tx1"/>
            </a:solidFill>
          </a:ln>
        </p:spPr>
        <p:txBody>
          <a:bodyPr wrap="square" rtlCol="1">
            <a:spAutoFit/>
          </a:bodyPr>
          <a:lstStyle/>
          <a:p>
            <a:pPr algn="r"/>
            <a:r>
              <a:rPr lang="he-IL" sz="3200" b="1" dirty="0">
                <a:latin typeface="David" panose="020E0502060401010101" pitchFamily="34" charset="-79"/>
                <a:cs typeface="David" panose="020E0502060401010101" pitchFamily="34" charset="-79"/>
              </a:rPr>
              <a:t>פרקים ה'-</a:t>
            </a:r>
            <a:r>
              <a:rPr lang="he-IL" sz="3200" b="1" dirty="0" err="1">
                <a:latin typeface="David" panose="020E0502060401010101" pitchFamily="34" charset="-79"/>
                <a:cs typeface="David" panose="020E0502060401010101" pitchFamily="34" charset="-79"/>
              </a:rPr>
              <a:t>כו</a:t>
            </a:r>
            <a:r>
              <a:rPr lang="he-IL" sz="3200" b="1" dirty="0">
                <a:latin typeface="David" panose="020E0502060401010101" pitchFamily="34" charset="-79"/>
                <a:cs typeface="David" panose="020E0502060401010101" pitchFamily="34" charset="-79"/>
              </a:rPr>
              <a:t>':</a:t>
            </a:r>
          </a:p>
          <a:p>
            <a:pPr algn="r"/>
            <a:r>
              <a:rPr lang="he-IL" sz="3600" dirty="0">
                <a:latin typeface="David" panose="020E0502060401010101" pitchFamily="34" charset="-79"/>
                <a:cs typeface="David" panose="020E0502060401010101" pitchFamily="34" charset="-79"/>
              </a:rPr>
              <a:t>נאום המצוות</a:t>
            </a:r>
          </a:p>
          <a:p>
            <a:pPr algn="r"/>
            <a:endParaRPr lang="he-IL" sz="2800" dirty="0">
              <a:latin typeface="David" panose="020E0502060401010101" pitchFamily="34" charset="-79"/>
              <a:cs typeface="David" panose="020E0502060401010101" pitchFamily="34" charset="-79"/>
            </a:endParaRPr>
          </a:p>
        </p:txBody>
      </p:sp>
      <p:sp>
        <p:nvSpPr>
          <p:cNvPr id="6" name="TextBox 5">
            <a:extLst>
              <a:ext uri="{FF2B5EF4-FFF2-40B4-BE49-F238E27FC236}">
                <a16:creationId xmlns:a16="http://schemas.microsoft.com/office/drawing/2014/main" id="{8A36823C-C108-4800-ABEC-81417343B129}"/>
              </a:ext>
            </a:extLst>
          </p:cNvPr>
          <p:cNvSpPr txBox="1"/>
          <p:nvPr/>
        </p:nvSpPr>
        <p:spPr>
          <a:xfrm>
            <a:off x="3173730" y="2705859"/>
            <a:ext cx="3006090" cy="1918811"/>
          </a:xfrm>
          <a:prstGeom prst="verticalScroll">
            <a:avLst/>
          </a:prstGeom>
          <a:solidFill>
            <a:schemeClr val="accent4">
              <a:lumMod val="60000"/>
              <a:lumOff val="40000"/>
            </a:schemeClr>
          </a:solidFill>
          <a:ln w="28575">
            <a:solidFill>
              <a:schemeClr val="tx1"/>
            </a:solidFill>
          </a:ln>
        </p:spPr>
        <p:txBody>
          <a:bodyPr wrap="square" rtlCol="1">
            <a:spAutoFit/>
          </a:bodyPr>
          <a:lstStyle/>
          <a:p>
            <a:pPr algn="r"/>
            <a:r>
              <a:rPr lang="he-IL" sz="3200" b="1" dirty="0">
                <a:latin typeface="David" panose="020E0502060401010101" pitchFamily="34" charset="-79"/>
                <a:cs typeface="David" panose="020E0502060401010101" pitchFamily="34" charset="-79"/>
              </a:rPr>
              <a:t>פרקים כז'-ל'</a:t>
            </a:r>
          </a:p>
          <a:p>
            <a:pPr algn="r"/>
            <a:r>
              <a:rPr lang="he-IL" sz="3600" dirty="0">
                <a:latin typeface="David" panose="020E0502060401010101" pitchFamily="34" charset="-79"/>
                <a:cs typeface="David" panose="020E0502060401010101" pitchFamily="34" charset="-79"/>
              </a:rPr>
              <a:t> נאום הברית</a:t>
            </a:r>
          </a:p>
          <a:p>
            <a:pPr algn="r"/>
            <a:endParaRPr lang="he-IL" sz="2800" dirty="0">
              <a:latin typeface="David" panose="020E0502060401010101" pitchFamily="34" charset="-79"/>
              <a:cs typeface="David" panose="020E0502060401010101" pitchFamily="34" charset="-79"/>
            </a:endParaRPr>
          </a:p>
        </p:txBody>
      </p:sp>
      <p:sp>
        <p:nvSpPr>
          <p:cNvPr id="7" name="TextBox 6">
            <a:extLst>
              <a:ext uri="{FF2B5EF4-FFF2-40B4-BE49-F238E27FC236}">
                <a16:creationId xmlns:a16="http://schemas.microsoft.com/office/drawing/2014/main" id="{0B0E25FF-04A2-4474-A3FA-6BAA76519F30}"/>
              </a:ext>
            </a:extLst>
          </p:cNvPr>
          <p:cNvSpPr txBox="1"/>
          <p:nvPr/>
        </p:nvSpPr>
        <p:spPr>
          <a:xfrm>
            <a:off x="-115747" y="3852798"/>
            <a:ext cx="3429000" cy="1918811"/>
          </a:xfrm>
          <a:prstGeom prst="verticalScroll">
            <a:avLst/>
          </a:prstGeom>
          <a:solidFill>
            <a:schemeClr val="accent6">
              <a:lumMod val="40000"/>
              <a:lumOff val="60000"/>
            </a:schemeClr>
          </a:solidFill>
          <a:ln w="28575">
            <a:solidFill>
              <a:schemeClr val="tx1"/>
            </a:solidFill>
          </a:ln>
        </p:spPr>
        <p:txBody>
          <a:bodyPr wrap="square" rtlCol="1">
            <a:spAutoFit/>
          </a:bodyPr>
          <a:lstStyle/>
          <a:p>
            <a:pPr algn="r"/>
            <a:r>
              <a:rPr lang="he-IL" sz="3200" b="1" dirty="0">
                <a:latin typeface="David" panose="020E0502060401010101" pitchFamily="34" charset="-79"/>
                <a:cs typeface="David" panose="020E0502060401010101" pitchFamily="34" charset="-79"/>
              </a:rPr>
              <a:t>פרקים לא'-לד':</a:t>
            </a:r>
          </a:p>
          <a:p>
            <a:pPr algn="r"/>
            <a:r>
              <a:rPr lang="he-IL" sz="3600" dirty="0">
                <a:latin typeface="David" panose="020E0502060401010101" pitchFamily="34" charset="-79"/>
                <a:cs typeface="David" panose="020E0502060401010101" pitchFamily="34" charset="-79"/>
              </a:rPr>
              <a:t>   פרידת משה</a:t>
            </a:r>
          </a:p>
          <a:p>
            <a:pPr algn="r"/>
            <a:endParaRPr lang="he-IL" sz="2800" dirty="0">
              <a:latin typeface="David" panose="020E0502060401010101" pitchFamily="34" charset="-79"/>
              <a:cs typeface="David" panose="020E0502060401010101" pitchFamily="34" charset="-79"/>
            </a:endParaRPr>
          </a:p>
        </p:txBody>
      </p:sp>
      <p:sp>
        <p:nvSpPr>
          <p:cNvPr id="8" name="TextBox 7">
            <a:extLst>
              <a:ext uri="{FF2B5EF4-FFF2-40B4-BE49-F238E27FC236}">
                <a16:creationId xmlns:a16="http://schemas.microsoft.com/office/drawing/2014/main" id="{3275DEB2-9699-4545-A972-61D817D28A96}"/>
              </a:ext>
            </a:extLst>
          </p:cNvPr>
          <p:cNvSpPr txBox="1"/>
          <p:nvPr/>
        </p:nvSpPr>
        <p:spPr>
          <a:xfrm>
            <a:off x="6190526" y="3917454"/>
            <a:ext cx="5655487" cy="2677656"/>
          </a:xfrm>
          <a:prstGeom prst="rect">
            <a:avLst/>
          </a:prstGeom>
          <a:solidFill>
            <a:schemeClr val="accent4">
              <a:lumMod val="20000"/>
              <a:lumOff val="80000"/>
            </a:schemeClr>
          </a:solidFill>
          <a:ln w="38100">
            <a:solidFill>
              <a:schemeClr val="tx1"/>
            </a:solidFill>
          </a:ln>
        </p:spPr>
        <p:txBody>
          <a:bodyPr wrap="square" rtlCol="1">
            <a:spAutoFit/>
          </a:bodyPr>
          <a:lstStyle/>
          <a:p>
            <a:pPr algn="r"/>
            <a:r>
              <a:rPr lang="he-IL" sz="2800" b="1" u="sng" dirty="0">
                <a:latin typeface="David" panose="020E0502060401010101" pitchFamily="34" charset="-79"/>
                <a:cs typeface="David" panose="020E0502060401010101" pitchFamily="34" charset="-79"/>
              </a:rPr>
              <a:t>כתוב את ארבעת החלקים העיקריים</a:t>
            </a:r>
          </a:p>
          <a:p>
            <a:pPr algn="r"/>
            <a:r>
              <a:rPr lang="he-IL" sz="2800" b="1" u="sng" dirty="0">
                <a:latin typeface="David" panose="020E0502060401010101" pitchFamily="34" charset="-79"/>
                <a:cs typeface="David" panose="020E0502060401010101" pitchFamily="34" charset="-79"/>
              </a:rPr>
              <a:t>בספר דברים:</a:t>
            </a:r>
          </a:p>
          <a:p>
            <a:pPr algn="r"/>
            <a:r>
              <a:rPr lang="he-IL" sz="2800" dirty="0">
                <a:latin typeface="David" panose="020E0502060401010101" pitchFamily="34" charset="-79"/>
                <a:cs typeface="David" panose="020E0502060401010101" pitchFamily="34" charset="-79"/>
              </a:rPr>
              <a:t>א. נאום ה_______  פרקים ________</a:t>
            </a:r>
          </a:p>
          <a:p>
            <a:pPr algn="r"/>
            <a:r>
              <a:rPr lang="he-IL" sz="2800" dirty="0">
                <a:latin typeface="David" panose="020E0502060401010101" pitchFamily="34" charset="-79"/>
                <a:cs typeface="David" panose="020E0502060401010101" pitchFamily="34" charset="-79"/>
              </a:rPr>
              <a:t>ב. נאום ה _______ פרקים ________</a:t>
            </a:r>
          </a:p>
          <a:p>
            <a:pPr algn="r"/>
            <a:r>
              <a:rPr lang="he-IL" sz="2800" dirty="0">
                <a:latin typeface="David" panose="020E0502060401010101" pitchFamily="34" charset="-79"/>
                <a:cs typeface="David" panose="020E0502060401010101" pitchFamily="34" charset="-79"/>
              </a:rPr>
              <a:t>ג. נאום ה _______ פרקים ________</a:t>
            </a:r>
          </a:p>
          <a:p>
            <a:pPr algn="r"/>
            <a:r>
              <a:rPr lang="he-IL" sz="2800" dirty="0">
                <a:latin typeface="David" panose="020E0502060401010101" pitchFamily="34" charset="-79"/>
                <a:cs typeface="David" panose="020E0502060401010101" pitchFamily="34" charset="-79"/>
              </a:rPr>
              <a:t>ד. פרידת ______ פרקים _________</a:t>
            </a:r>
          </a:p>
        </p:txBody>
      </p:sp>
    </p:spTree>
    <p:extLst>
      <p:ext uri="{BB962C8B-B14F-4D97-AF65-F5344CB8AC3E}">
        <p14:creationId xmlns:p14="http://schemas.microsoft.com/office/powerpoint/2010/main" val="296378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79E5AC-6BA3-4F00-8FE2-C1F0DFC60C50}"/>
              </a:ext>
            </a:extLst>
          </p:cNvPr>
          <p:cNvSpPr txBox="1"/>
          <p:nvPr/>
        </p:nvSpPr>
        <p:spPr>
          <a:xfrm>
            <a:off x="185194" y="2782669"/>
            <a:ext cx="4734046" cy="4031873"/>
          </a:xfrm>
          <a:prstGeom prst="rect">
            <a:avLst/>
          </a:prstGeom>
          <a:solidFill>
            <a:schemeClr val="accent5">
              <a:lumMod val="40000"/>
              <a:lumOff val="60000"/>
            </a:schemeClr>
          </a:solidFill>
          <a:ln w="28575">
            <a:solidFill>
              <a:schemeClr val="tx1"/>
            </a:solidFill>
          </a:ln>
        </p:spPr>
        <p:txBody>
          <a:bodyPr wrap="square" rtlCol="1">
            <a:spAutoFit/>
          </a:bodyPr>
          <a:lstStyle/>
          <a:p>
            <a:pPr algn="r"/>
            <a:r>
              <a:rPr lang="he-IL" sz="3200" b="1" u="sng" dirty="0">
                <a:latin typeface="David" panose="020E0502060401010101" pitchFamily="34" charset="-79"/>
                <a:cs typeface="David" panose="020E0502060401010101" pitchFamily="34" charset="-79"/>
              </a:rPr>
              <a:t>סכום המלחמות </a:t>
            </a:r>
            <a:r>
              <a:rPr lang="he-IL" sz="3200" b="1" u="sng" dirty="0" err="1">
                <a:latin typeface="David" panose="020E0502060401010101" pitchFamily="34" charset="-79"/>
                <a:cs typeface="David" panose="020E0502060401010101" pitchFamily="34" charset="-79"/>
              </a:rPr>
              <a:t>בנ"י</a:t>
            </a:r>
            <a:r>
              <a:rPr lang="he-IL" sz="3200" b="1" u="sng" dirty="0">
                <a:latin typeface="David" panose="020E0502060401010101" pitchFamily="34" charset="-79"/>
                <a:cs typeface="David" panose="020E0502060401010101" pitchFamily="34" charset="-79"/>
              </a:rPr>
              <a:t> במדבר:</a:t>
            </a:r>
          </a:p>
          <a:p>
            <a:pPr algn="r"/>
            <a:r>
              <a:rPr lang="he-IL" sz="2800" dirty="0">
                <a:latin typeface="David" panose="020E0502060401010101" pitchFamily="34" charset="-79"/>
                <a:cs typeface="David" panose="020E0502060401010101" pitchFamily="34" charset="-79"/>
              </a:rPr>
              <a:t>מלחמת עמלק לפני מתן תורה</a:t>
            </a:r>
          </a:p>
          <a:p>
            <a:pPr algn="r"/>
            <a:r>
              <a:rPr lang="he-IL" sz="2800" dirty="0">
                <a:latin typeface="David" panose="020E0502060401010101" pitchFamily="34" charset="-79"/>
                <a:cs typeface="David" panose="020E0502060401010101" pitchFamily="34" charset="-79"/>
              </a:rPr>
              <a:t>סובבו את ארץ אדום</a:t>
            </a:r>
          </a:p>
          <a:p>
            <a:pPr algn="r"/>
            <a:r>
              <a:rPr lang="he-IL" sz="2800" dirty="0">
                <a:latin typeface="David" panose="020E0502060401010101" pitchFamily="34" charset="-79"/>
                <a:cs typeface="David" panose="020E0502060401010101" pitchFamily="34" charset="-79"/>
              </a:rPr>
              <a:t>עברו את ארץ מואב</a:t>
            </a:r>
          </a:p>
          <a:p>
            <a:pPr algn="r"/>
            <a:r>
              <a:rPr lang="he-IL" sz="2800" dirty="0">
                <a:latin typeface="David" panose="020E0502060401010101" pitchFamily="34" charset="-79"/>
                <a:cs typeface="David" panose="020E0502060401010101" pitchFamily="34" charset="-79"/>
              </a:rPr>
              <a:t>עברו ארץ עמון</a:t>
            </a:r>
          </a:p>
          <a:p>
            <a:pPr algn="r"/>
            <a:r>
              <a:rPr lang="he-IL" sz="2800" dirty="0">
                <a:highlight>
                  <a:srgbClr val="FFFF00"/>
                </a:highlight>
                <a:latin typeface="David" panose="020E0502060401010101" pitchFamily="34" charset="-79"/>
                <a:cs typeface="David" panose="020E0502060401010101" pitchFamily="34" charset="-79"/>
              </a:rPr>
              <a:t>נלחמו נגד כפתורים</a:t>
            </a:r>
          </a:p>
          <a:p>
            <a:pPr algn="r"/>
            <a:r>
              <a:rPr lang="he-IL" sz="2800" dirty="0">
                <a:latin typeface="David" panose="020E0502060401010101" pitchFamily="34" charset="-79"/>
                <a:cs typeface="David" panose="020E0502060401010101" pitchFamily="34" charset="-79"/>
              </a:rPr>
              <a:t>נלחמו נגד </a:t>
            </a:r>
            <a:r>
              <a:rPr lang="he-IL" sz="2800" dirty="0" err="1">
                <a:latin typeface="David" panose="020E0502060401010101" pitchFamily="34" charset="-79"/>
                <a:cs typeface="David" panose="020E0502060401010101" pitchFamily="34" charset="-79"/>
              </a:rPr>
              <a:t>סיחון</a:t>
            </a:r>
            <a:r>
              <a:rPr lang="he-IL" sz="2800" dirty="0">
                <a:latin typeface="David" panose="020E0502060401010101" pitchFamily="34" charset="-79"/>
                <a:cs typeface="David" panose="020E0502060401010101" pitchFamily="34" charset="-79"/>
              </a:rPr>
              <a:t> וכבשו</a:t>
            </a:r>
          </a:p>
          <a:p>
            <a:pPr algn="r"/>
            <a:r>
              <a:rPr lang="he-IL" sz="2800" dirty="0">
                <a:latin typeface="David" panose="020E0502060401010101" pitchFamily="34" charset="-79"/>
                <a:cs typeface="David" panose="020E0502060401010101" pitchFamily="34" charset="-79"/>
              </a:rPr>
              <a:t>נלחמו נגד עוג וכבשו</a:t>
            </a:r>
          </a:p>
          <a:p>
            <a:pPr algn="r"/>
            <a:r>
              <a:rPr lang="he-IL" sz="2800" dirty="0">
                <a:latin typeface="David" panose="020E0502060401010101" pitchFamily="34" charset="-79"/>
                <a:cs typeface="David" panose="020E0502060401010101" pitchFamily="34" charset="-79"/>
              </a:rPr>
              <a:t>נלחמו נגד מדיין.</a:t>
            </a:r>
          </a:p>
        </p:txBody>
      </p:sp>
      <p:sp>
        <p:nvSpPr>
          <p:cNvPr id="3" name="TextBox 2">
            <a:extLst>
              <a:ext uri="{FF2B5EF4-FFF2-40B4-BE49-F238E27FC236}">
                <a16:creationId xmlns:a16="http://schemas.microsoft.com/office/drawing/2014/main" id="{0B64F906-3CB3-446E-B2B6-2A9F24347023}"/>
              </a:ext>
            </a:extLst>
          </p:cNvPr>
          <p:cNvSpPr txBox="1"/>
          <p:nvPr/>
        </p:nvSpPr>
        <p:spPr>
          <a:xfrm>
            <a:off x="5361009" y="3245561"/>
            <a:ext cx="6495326" cy="2739211"/>
          </a:xfrm>
          <a:prstGeom prst="rect">
            <a:avLst/>
          </a:prstGeom>
          <a:solidFill>
            <a:schemeClr val="accent4">
              <a:lumMod val="40000"/>
              <a:lumOff val="60000"/>
            </a:schemeClr>
          </a:solidFill>
          <a:ln w="28575">
            <a:solidFill>
              <a:schemeClr val="tx1"/>
            </a:solidFill>
          </a:ln>
        </p:spPr>
        <p:txBody>
          <a:bodyPr wrap="square" rtlCol="1">
            <a:spAutoFit/>
          </a:bodyPr>
          <a:lstStyle/>
          <a:p>
            <a:pPr algn="r"/>
            <a:r>
              <a:rPr lang="he-IL" sz="2800" b="1" u="sng" dirty="0">
                <a:latin typeface="David" panose="020E0502060401010101" pitchFamily="34" charset="-79"/>
                <a:cs typeface="David" panose="020E0502060401010101" pitchFamily="34" charset="-79"/>
              </a:rPr>
              <a:t>מניין בני ישראל:</a:t>
            </a:r>
          </a:p>
          <a:p>
            <a:pPr algn="r"/>
            <a:r>
              <a:rPr lang="he-IL" sz="2400" dirty="0">
                <a:latin typeface="David" panose="020E0502060401010101" pitchFamily="34" charset="-79"/>
                <a:cs typeface="David" panose="020E0502060401010101" pitchFamily="34" charset="-79"/>
              </a:rPr>
              <a:t>בני ישראל נמנו 4 פעמים מיציאתן ממצרים ועד הכניסה לארץ:</a:t>
            </a:r>
          </a:p>
          <a:p>
            <a:pPr algn="r"/>
            <a:r>
              <a:rPr lang="he-IL" sz="2400" dirty="0">
                <a:latin typeface="David" panose="020E0502060401010101" pitchFamily="34" charset="-79"/>
                <a:cs typeface="David" panose="020E0502060401010101" pitchFamily="34" charset="-79"/>
              </a:rPr>
              <a:t>א. </a:t>
            </a:r>
            <a:r>
              <a:rPr lang="he-IL" sz="2400" b="1" dirty="0">
                <a:highlight>
                  <a:srgbClr val="00FFFF"/>
                </a:highlight>
                <a:latin typeface="David" panose="020E0502060401010101" pitchFamily="34" charset="-79"/>
                <a:cs typeface="David" panose="020E0502060401010101" pitchFamily="34" charset="-79"/>
              </a:rPr>
              <a:t>פעם ראשונה- </a:t>
            </a:r>
            <a:r>
              <a:rPr lang="he-IL" sz="2400" dirty="0">
                <a:latin typeface="David" panose="020E0502060401010101" pitchFamily="34" charset="-79"/>
                <a:cs typeface="David" panose="020E0502060401010101" pitchFamily="34" charset="-79"/>
              </a:rPr>
              <a:t>ביציאה ממצרים 600 אלף רגלי</a:t>
            </a:r>
          </a:p>
          <a:p>
            <a:pPr algn="r"/>
            <a:r>
              <a:rPr lang="he-IL" sz="2400" dirty="0">
                <a:latin typeface="David" panose="020E0502060401010101" pitchFamily="34" charset="-79"/>
                <a:cs typeface="David" panose="020E0502060401010101" pitchFamily="34" charset="-79"/>
              </a:rPr>
              <a:t>ב. </a:t>
            </a:r>
            <a:r>
              <a:rPr lang="he-IL" sz="2400" b="1" dirty="0">
                <a:highlight>
                  <a:srgbClr val="00FFFF"/>
                </a:highlight>
                <a:latin typeface="David" panose="020E0502060401010101" pitchFamily="34" charset="-79"/>
                <a:cs typeface="David" panose="020E0502060401010101" pitchFamily="34" charset="-79"/>
              </a:rPr>
              <a:t>פעם שנייה- </a:t>
            </a:r>
            <a:r>
              <a:rPr lang="he-IL" sz="2400" dirty="0">
                <a:latin typeface="David" panose="020E0502060401010101" pitchFamily="34" charset="-79"/>
                <a:cs typeface="David" panose="020E0502060401010101" pitchFamily="34" charset="-79"/>
              </a:rPr>
              <a:t>אחרי חטא העגל מניין 603,500</a:t>
            </a:r>
          </a:p>
          <a:p>
            <a:pPr algn="r"/>
            <a:r>
              <a:rPr lang="he-IL" sz="2400" dirty="0">
                <a:latin typeface="David" panose="020E0502060401010101" pitchFamily="34" charset="-79"/>
                <a:cs typeface="David" panose="020E0502060401010101" pitchFamily="34" charset="-79"/>
              </a:rPr>
              <a:t>ג. </a:t>
            </a:r>
            <a:r>
              <a:rPr lang="he-IL" sz="2400" b="1" dirty="0">
                <a:highlight>
                  <a:srgbClr val="00FFFF"/>
                </a:highlight>
                <a:latin typeface="David" panose="020E0502060401010101" pitchFamily="34" charset="-79"/>
                <a:cs typeface="David" panose="020E0502060401010101" pitchFamily="34" charset="-79"/>
              </a:rPr>
              <a:t>הפעם השלישית- </a:t>
            </a:r>
            <a:r>
              <a:rPr lang="he-IL" sz="2400" dirty="0">
                <a:latin typeface="David" panose="020E0502060401010101" pitchFamily="34" charset="-79"/>
                <a:cs typeface="David" panose="020E0502060401010101" pitchFamily="34" charset="-79"/>
              </a:rPr>
              <a:t>אחרי שהוקם המשכן מניין 603500</a:t>
            </a:r>
          </a:p>
          <a:p>
            <a:pPr algn="r"/>
            <a:r>
              <a:rPr lang="he-IL" sz="2400" dirty="0">
                <a:latin typeface="David" panose="020E0502060401010101" pitchFamily="34" charset="-79"/>
                <a:cs typeface="David" panose="020E0502060401010101" pitchFamily="34" charset="-79"/>
              </a:rPr>
              <a:t>ד. </a:t>
            </a:r>
            <a:r>
              <a:rPr lang="he-IL" sz="2400" b="1" dirty="0">
                <a:highlight>
                  <a:srgbClr val="00FFFF"/>
                </a:highlight>
                <a:latin typeface="David" panose="020E0502060401010101" pitchFamily="34" charset="-79"/>
                <a:cs typeface="David" panose="020E0502060401010101" pitchFamily="34" charset="-79"/>
              </a:rPr>
              <a:t>הפעם הרביעית- </a:t>
            </a:r>
            <a:r>
              <a:rPr lang="he-IL" sz="2400" dirty="0">
                <a:latin typeface="David" panose="020E0502060401010101" pitchFamily="34" charset="-79"/>
                <a:cs typeface="David" panose="020E0502060401010101" pitchFamily="34" charset="-79"/>
              </a:rPr>
              <a:t>לפני כניסתם לארץ המניין 601,730</a:t>
            </a:r>
          </a:p>
        </p:txBody>
      </p:sp>
      <p:sp>
        <p:nvSpPr>
          <p:cNvPr id="4" name="TextBox 3">
            <a:extLst>
              <a:ext uri="{FF2B5EF4-FFF2-40B4-BE49-F238E27FC236}">
                <a16:creationId xmlns:a16="http://schemas.microsoft.com/office/drawing/2014/main" id="{295A8FAC-C118-4AC2-9957-A7A5C32D8F91}"/>
              </a:ext>
            </a:extLst>
          </p:cNvPr>
          <p:cNvSpPr txBox="1"/>
          <p:nvPr/>
        </p:nvSpPr>
        <p:spPr>
          <a:xfrm>
            <a:off x="2382455" y="98273"/>
            <a:ext cx="5073570" cy="2585323"/>
          </a:xfrm>
          <a:prstGeom prst="rect">
            <a:avLst/>
          </a:prstGeom>
          <a:solidFill>
            <a:schemeClr val="accent6">
              <a:lumMod val="40000"/>
              <a:lumOff val="60000"/>
            </a:schemeClr>
          </a:solidFill>
          <a:ln w="28575">
            <a:solidFill>
              <a:schemeClr val="tx1"/>
            </a:solidFill>
          </a:ln>
        </p:spPr>
        <p:txBody>
          <a:bodyPr wrap="square" rtlCol="1">
            <a:spAutoFit/>
          </a:bodyPr>
          <a:lstStyle/>
          <a:p>
            <a:pPr algn="r"/>
            <a:r>
              <a:rPr lang="he-IL" sz="3200" b="1" u="sng" dirty="0">
                <a:latin typeface="David" panose="020E0502060401010101" pitchFamily="34" charset="-79"/>
                <a:cs typeface="David" panose="020E0502060401010101" pitchFamily="34" charset="-79"/>
              </a:rPr>
              <a:t>פטירת צדיקים בעם ישראל:</a:t>
            </a:r>
          </a:p>
          <a:p>
            <a:pPr algn="r"/>
            <a:r>
              <a:rPr lang="he-IL" sz="2600" dirty="0">
                <a:latin typeface="David" panose="020E0502060401010101" pitchFamily="34" charset="-79"/>
                <a:cs typeface="David" panose="020E0502060401010101" pitchFamily="34" charset="-79"/>
              </a:rPr>
              <a:t>שני בני אהרון (א' ניסן שנה שניה)</a:t>
            </a:r>
          </a:p>
          <a:p>
            <a:pPr algn="r"/>
            <a:r>
              <a:rPr lang="he-IL" sz="2600" dirty="0">
                <a:latin typeface="David" panose="020E0502060401010101" pitchFamily="34" charset="-79"/>
                <a:cs typeface="David" panose="020E0502060401010101" pitchFamily="34" charset="-79"/>
              </a:rPr>
              <a:t>שבעים הזקנים (בחטא המתאוננים).</a:t>
            </a:r>
          </a:p>
          <a:p>
            <a:pPr algn="r"/>
            <a:r>
              <a:rPr lang="he-IL" sz="2600" dirty="0">
                <a:latin typeface="David" panose="020E0502060401010101" pitchFamily="34" charset="-79"/>
                <a:cs typeface="David" panose="020E0502060401010101" pitchFamily="34" charset="-79"/>
              </a:rPr>
              <a:t>פטירת מרים הנביאה ע"ה</a:t>
            </a:r>
          </a:p>
          <a:p>
            <a:pPr algn="r"/>
            <a:r>
              <a:rPr lang="he-IL" sz="2600" dirty="0">
                <a:latin typeface="David" panose="020E0502060401010101" pitchFamily="34" charset="-79"/>
                <a:cs typeface="David" panose="020E0502060401010101" pitchFamily="34" charset="-79"/>
              </a:rPr>
              <a:t>פטירת אהרון הכהן בהר ההר</a:t>
            </a:r>
          </a:p>
          <a:p>
            <a:pPr algn="r"/>
            <a:r>
              <a:rPr lang="he-IL" sz="2600" b="1" dirty="0">
                <a:highlight>
                  <a:srgbClr val="FFFF00"/>
                </a:highlight>
                <a:latin typeface="David" panose="020E0502060401010101" pitchFamily="34" charset="-79"/>
                <a:cs typeface="David" panose="020E0502060401010101" pitchFamily="34" charset="-79"/>
              </a:rPr>
              <a:t>פטירת משה רבינו ע"ה בהר נבו</a:t>
            </a:r>
          </a:p>
        </p:txBody>
      </p:sp>
      <p:sp>
        <p:nvSpPr>
          <p:cNvPr id="5" name="TextBox 4">
            <a:extLst>
              <a:ext uri="{FF2B5EF4-FFF2-40B4-BE49-F238E27FC236}">
                <a16:creationId xmlns:a16="http://schemas.microsoft.com/office/drawing/2014/main" id="{81DD3E56-8FF2-4609-8CFF-89D1C116B1E6}"/>
              </a:ext>
            </a:extLst>
          </p:cNvPr>
          <p:cNvSpPr txBox="1"/>
          <p:nvPr/>
        </p:nvSpPr>
        <p:spPr>
          <a:xfrm>
            <a:off x="7627717" y="309444"/>
            <a:ext cx="3571756" cy="2466915"/>
          </a:xfrm>
          <a:prstGeom prst="wedgeEllipseCallout">
            <a:avLst/>
          </a:prstGeom>
          <a:solidFill>
            <a:schemeClr val="accent2">
              <a:lumMod val="40000"/>
              <a:lumOff val="60000"/>
            </a:schemeClr>
          </a:solidFill>
          <a:ln w="28575">
            <a:solidFill>
              <a:schemeClr val="tx1"/>
            </a:solidFill>
          </a:ln>
        </p:spPr>
        <p:txBody>
          <a:bodyPr wrap="square" rtlCol="1">
            <a:spAutoFit/>
          </a:bodyPr>
          <a:lstStyle/>
          <a:p>
            <a:pPr algn="r"/>
            <a:r>
              <a:rPr lang="he-IL" sz="3600" b="1" u="sng" dirty="0">
                <a:latin typeface="David" panose="020E0502060401010101" pitchFamily="34" charset="-79"/>
                <a:cs typeface="David" panose="020E0502060401010101" pitchFamily="34" charset="-79"/>
              </a:rPr>
              <a:t>סדר מאורעות בני ישראל במדבר:</a:t>
            </a:r>
            <a:endParaRPr lang="he-IL" sz="3200" b="1"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57969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circle(in)">
                                      <p:cBhvr>
                                        <p:cTn id="14" dur="2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9D4FB8-4A54-418A-85F4-8C0B18D75E88}"/>
              </a:ext>
            </a:extLst>
          </p:cNvPr>
          <p:cNvSpPr txBox="1"/>
          <p:nvPr/>
        </p:nvSpPr>
        <p:spPr>
          <a:xfrm>
            <a:off x="6096000" y="562987"/>
            <a:ext cx="5711382" cy="1569660"/>
          </a:xfrm>
          <a:prstGeom prst="rect">
            <a:avLst/>
          </a:prstGeom>
          <a:solidFill>
            <a:schemeClr val="accent4">
              <a:lumMod val="20000"/>
              <a:lumOff val="80000"/>
            </a:schemeClr>
          </a:solidFill>
          <a:ln w="38100">
            <a:solidFill>
              <a:schemeClr val="tx1"/>
            </a:solidFill>
          </a:ln>
        </p:spPr>
        <p:txBody>
          <a:bodyPr wrap="square" rtlCol="1">
            <a:spAutoFit/>
          </a:bodyPr>
          <a:lstStyle/>
          <a:p>
            <a:pPr algn="ctr"/>
            <a:r>
              <a:rPr lang="he-IL" sz="3200" b="1" u="sng" dirty="0">
                <a:latin typeface="David" panose="020E0502060401010101" pitchFamily="34" charset="-79"/>
                <a:cs typeface="David" panose="020E0502060401010101" pitchFamily="34" charset="-79"/>
              </a:rPr>
              <a:t>פרק א' פסוקים א-ה': </a:t>
            </a:r>
          </a:p>
          <a:p>
            <a:pPr algn="ctr"/>
            <a:r>
              <a:rPr lang="he-IL" sz="3200" dirty="0">
                <a:latin typeface="David" panose="020E0502060401010101" pitchFamily="34" charset="-79"/>
                <a:cs typeface="David" panose="020E0502060401010101" pitchFamily="34" charset="-79"/>
              </a:rPr>
              <a:t>משה מדבר ומזכיר את המסעות אל הארץ המובטחת</a:t>
            </a:r>
          </a:p>
        </p:txBody>
      </p:sp>
      <p:sp>
        <p:nvSpPr>
          <p:cNvPr id="3" name="TextBox 2">
            <a:extLst>
              <a:ext uri="{FF2B5EF4-FFF2-40B4-BE49-F238E27FC236}">
                <a16:creationId xmlns:a16="http://schemas.microsoft.com/office/drawing/2014/main" id="{B04448D9-EAB2-45DD-BF18-CB05A037AAAC}"/>
              </a:ext>
            </a:extLst>
          </p:cNvPr>
          <p:cNvSpPr txBox="1"/>
          <p:nvPr/>
        </p:nvSpPr>
        <p:spPr>
          <a:xfrm>
            <a:off x="6585681" y="2564768"/>
            <a:ext cx="4732020" cy="1077218"/>
          </a:xfrm>
          <a:prstGeom prst="rect">
            <a:avLst/>
          </a:prstGeom>
          <a:solidFill>
            <a:schemeClr val="accent4">
              <a:lumMod val="20000"/>
              <a:lumOff val="80000"/>
            </a:schemeClr>
          </a:solidFill>
          <a:ln w="38100">
            <a:solidFill>
              <a:schemeClr val="tx1"/>
            </a:solidFill>
          </a:ln>
        </p:spPr>
        <p:txBody>
          <a:bodyPr wrap="square" rtlCol="1">
            <a:spAutoFit/>
          </a:bodyPr>
          <a:lstStyle/>
          <a:p>
            <a:pPr algn="ctr"/>
            <a:r>
              <a:rPr lang="he-IL" sz="3200" b="1" u="sng" dirty="0">
                <a:latin typeface="David" panose="020E0502060401010101" pitchFamily="34" charset="-79"/>
                <a:cs typeface="David" panose="020E0502060401010101" pitchFamily="34" charset="-79"/>
              </a:rPr>
              <a:t>פרק א' פסוקים ו'-ח':</a:t>
            </a:r>
          </a:p>
          <a:p>
            <a:pPr algn="ctr"/>
            <a:r>
              <a:rPr lang="he-IL" sz="3200" dirty="0">
                <a:latin typeface="David" panose="020E0502060401010101" pitchFamily="34" charset="-79"/>
                <a:cs typeface="David" panose="020E0502060401010101" pitchFamily="34" charset="-79"/>
              </a:rPr>
              <a:t>הציווי לכבוש את הארץ</a:t>
            </a:r>
          </a:p>
        </p:txBody>
      </p:sp>
      <p:sp>
        <p:nvSpPr>
          <p:cNvPr id="4" name="TextBox 3">
            <a:extLst>
              <a:ext uri="{FF2B5EF4-FFF2-40B4-BE49-F238E27FC236}">
                <a16:creationId xmlns:a16="http://schemas.microsoft.com/office/drawing/2014/main" id="{11D61E09-AC44-4EA7-9D7C-C1E5F37CEC4D}"/>
              </a:ext>
            </a:extLst>
          </p:cNvPr>
          <p:cNvSpPr txBox="1"/>
          <p:nvPr/>
        </p:nvSpPr>
        <p:spPr>
          <a:xfrm>
            <a:off x="5819509" y="4276859"/>
            <a:ext cx="4732020" cy="1569660"/>
          </a:xfrm>
          <a:prstGeom prst="rect">
            <a:avLst/>
          </a:prstGeom>
          <a:solidFill>
            <a:schemeClr val="accent4">
              <a:lumMod val="20000"/>
              <a:lumOff val="80000"/>
            </a:schemeClr>
          </a:solidFill>
          <a:ln w="38100">
            <a:solidFill>
              <a:schemeClr val="tx1"/>
            </a:solidFill>
          </a:ln>
        </p:spPr>
        <p:txBody>
          <a:bodyPr wrap="square" rtlCol="1">
            <a:spAutoFit/>
          </a:bodyPr>
          <a:lstStyle/>
          <a:p>
            <a:pPr algn="ctr"/>
            <a:r>
              <a:rPr lang="he-IL" sz="3200" b="1" u="sng" dirty="0">
                <a:latin typeface="David" panose="020E0502060401010101" pitchFamily="34" charset="-79"/>
                <a:cs typeface="David" panose="020E0502060401010101" pitchFamily="34" charset="-79"/>
              </a:rPr>
              <a:t>פרק א' פסוקים ט'-</a:t>
            </a:r>
            <a:r>
              <a:rPr lang="he-IL" sz="3200" b="1" u="sng" dirty="0" err="1">
                <a:latin typeface="David" panose="020E0502060401010101" pitchFamily="34" charset="-79"/>
                <a:cs typeface="David" panose="020E0502060401010101" pitchFamily="34" charset="-79"/>
              </a:rPr>
              <a:t>יח</a:t>
            </a:r>
            <a:r>
              <a:rPr lang="he-IL" sz="3200" b="1" u="sng" dirty="0">
                <a:latin typeface="David" panose="020E0502060401010101" pitchFamily="34" charset="-79"/>
                <a:cs typeface="David" panose="020E0502060401010101" pitchFamily="34" charset="-79"/>
              </a:rPr>
              <a:t>':</a:t>
            </a:r>
          </a:p>
          <a:p>
            <a:pPr algn="ctr"/>
            <a:r>
              <a:rPr lang="he-IL" sz="3200" dirty="0">
                <a:latin typeface="David" panose="020E0502060401010101" pitchFamily="34" charset="-79"/>
                <a:cs typeface="David" panose="020E0502060401010101" pitchFamily="34" charset="-79"/>
              </a:rPr>
              <a:t>משה ממנה ראשים ושופטים בעם.</a:t>
            </a:r>
          </a:p>
        </p:txBody>
      </p:sp>
      <p:pic>
        <p:nvPicPr>
          <p:cNvPr id="5" name="תמונה 4">
            <a:extLst>
              <a:ext uri="{FF2B5EF4-FFF2-40B4-BE49-F238E27FC236}">
                <a16:creationId xmlns:a16="http://schemas.microsoft.com/office/drawing/2014/main" id="{9801582C-3559-4851-A892-C373946F876B}"/>
              </a:ext>
            </a:extLst>
          </p:cNvPr>
          <p:cNvPicPr>
            <a:picLocks noChangeAspect="1"/>
          </p:cNvPicPr>
          <p:nvPr/>
        </p:nvPicPr>
        <p:blipFill>
          <a:blip r:embed="rId2"/>
          <a:stretch>
            <a:fillRect/>
          </a:stretch>
        </p:blipFill>
        <p:spPr>
          <a:xfrm>
            <a:off x="2523281" y="264951"/>
            <a:ext cx="2887642" cy="2165732"/>
          </a:xfrm>
          <a:prstGeom prst="rect">
            <a:avLst/>
          </a:prstGeom>
        </p:spPr>
      </p:pic>
      <p:pic>
        <p:nvPicPr>
          <p:cNvPr id="1026" name="Picture 2" descr="מינוי שופטים במשפט העברי - המכון הישראלי לדמוקרטיה">
            <a:extLst>
              <a:ext uri="{FF2B5EF4-FFF2-40B4-BE49-F238E27FC236}">
                <a16:creationId xmlns:a16="http://schemas.microsoft.com/office/drawing/2014/main" id="{830868BF-733A-4FAA-B226-3171783CC8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1748" y="3103377"/>
            <a:ext cx="2655123" cy="3450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3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ircle(in)">
                                      <p:cBhvr>
                                        <p:cTn id="18" dur="2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animEffect transition="in" filter="wipe(down)">
                                      <p:cBhvr>
                                        <p:cTn id="29"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F0841B-4FD7-47A9-8B43-C37A486162D0}"/>
              </a:ext>
            </a:extLst>
          </p:cNvPr>
          <p:cNvSpPr txBox="1"/>
          <p:nvPr/>
        </p:nvSpPr>
        <p:spPr>
          <a:xfrm>
            <a:off x="7223760" y="254377"/>
            <a:ext cx="4732212" cy="584775"/>
          </a:xfrm>
          <a:prstGeom prst="rect">
            <a:avLst/>
          </a:prstGeom>
          <a:solidFill>
            <a:schemeClr val="accent4">
              <a:lumMod val="20000"/>
              <a:lumOff val="80000"/>
            </a:schemeClr>
          </a:solidFill>
          <a:ln w="38100">
            <a:solidFill>
              <a:schemeClr val="tx1"/>
            </a:solidFill>
          </a:ln>
        </p:spPr>
        <p:txBody>
          <a:bodyPr wrap="square" rtlCol="1">
            <a:spAutoFit/>
          </a:bodyPr>
          <a:lstStyle/>
          <a:p>
            <a:pPr algn="ctr"/>
            <a:r>
              <a:rPr lang="he-IL" sz="3200" b="1" u="sng" dirty="0">
                <a:latin typeface="David" panose="020E0502060401010101" pitchFamily="34" charset="-79"/>
                <a:cs typeface="David" panose="020E0502060401010101" pitchFamily="34" charset="-79"/>
              </a:rPr>
              <a:t>פרק א' פסוקים א-ה': </a:t>
            </a:r>
          </a:p>
        </p:txBody>
      </p:sp>
      <p:sp>
        <p:nvSpPr>
          <p:cNvPr id="3" name="מלבן 2">
            <a:extLst>
              <a:ext uri="{FF2B5EF4-FFF2-40B4-BE49-F238E27FC236}">
                <a16:creationId xmlns:a16="http://schemas.microsoft.com/office/drawing/2014/main" id="{869FD1AA-2FB0-4FC8-B751-3AAB86B39773}"/>
              </a:ext>
            </a:extLst>
          </p:cNvPr>
          <p:cNvSpPr/>
          <p:nvPr/>
        </p:nvSpPr>
        <p:spPr>
          <a:xfrm>
            <a:off x="6516546" y="1094444"/>
            <a:ext cx="5330575" cy="2062103"/>
          </a:xfrm>
          <a:prstGeom prst="rect">
            <a:avLst/>
          </a:prstGeom>
          <a:solidFill>
            <a:schemeClr val="accent6">
              <a:lumMod val="20000"/>
              <a:lumOff val="80000"/>
            </a:schemeClr>
          </a:solidFill>
        </p:spPr>
        <p:txBody>
          <a:bodyPr wrap="square">
            <a:spAutoFit/>
          </a:bodyPr>
          <a:lstStyle/>
          <a:p>
            <a:pPr algn="r"/>
            <a:r>
              <a:rPr lang="he-IL" sz="3200" dirty="0">
                <a:solidFill>
                  <a:srgbClr val="000000"/>
                </a:solidFill>
                <a:highlight>
                  <a:srgbClr val="FFFF00"/>
                </a:highlight>
                <a:latin typeface="David" panose="020E0502060401010101" pitchFamily="34" charset="-79"/>
                <a:cs typeface="David" panose="020E0502060401010101" pitchFamily="34" charset="-79"/>
              </a:rPr>
              <a:t>א אֵ֣לֶּה הַדְּבָרִ֗ים אֲשֶׁ֨ר דִּבֶּ֤ר מֹשֶׁה֙ </a:t>
            </a:r>
            <a:r>
              <a:rPr lang="he-IL" sz="3200" dirty="0" err="1">
                <a:solidFill>
                  <a:srgbClr val="000000"/>
                </a:solidFill>
                <a:highlight>
                  <a:srgbClr val="FFFF00"/>
                </a:highlight>
                <a:latin typeface="David" panose="020E0502060401010101" pitchFamily="34" charset="-79"/>
                <a:cs typeface="David" panose="020E0502060401010101" pitchFamily="34" charset="-79"/>
              </a:rPr>
              <a:t>אֶל־כָּל־יִשְׂרָאֵ֔ל</a:t>
            </a:r>
            <a:r>
              <a:rPr lang="he-IL" sz="3200" dirty="0">
                <a:solidFill>
                  <a:srgbClr val="000000"/>
                </a:solidFill>
                <a:highlight>
                  <a:srgbClr val="FFFF00"/>
                </a:highlight>
                <a:latin typeface="David" panose="020E0502060401010101" pitchFamily="34" charset="-79"/>
                <a:cs typeface="David" panose="020E0502060401010101" pitchFamily="34" charset="-79"/>
              </a:rPr>
              <a:t> בְּעֵ֖בֶר הַיַּרְדֵּ֑ן </a:t>
            </a:r>
            <a:r>
              <a:rPr lang="he-IL" sz="3200" dirty="0">
                <a:solidFill>
                  <a:srgbClr val="000000"/>
                </a:solidFill>
                <a:latin typeface="David" panose="020E0502060401010101" pitchFamily="34" charset="-79"/>
                <a:cs typeface="David" panose="020E0502060401010101" pitchFamily="34" charset="-79"/>
              </a:rPr>
              <a:t>ב</a:t>
            </a:r>
            <a:r>
              <a:rPr lang="he-IL" sz="3200" dirty="0">
                <a:solidFill>
                  <a:srgbClr val="000000"/>
                </a:solidFill>
                <a:highlight>
                  <a:srgbClr val="FFFF00"/>
                </a:highlight>
                <a:latin typeface="David" panose="020E0502060401010101" pitchFamily="34" charset="-79"/>
                <a:cs typeface="David" panose="020E0502060401010101" pitchFamily="34" charset="-79"/>
              </a:rPr>
              <a:t>ּ</a:t>
            </a:r>
            <a:r>
              <a:rPr lang="he-IL" sz="3200" dirty="0">
                <a:solidFill>
                  <a:srgbClr val="000000"/>
                </a:solidFill>
                <a:latin typeface="David" panose="020E0502060401010101" pitchFamily="34" charset="-79"/>
                <a:cs typeface="David" panose="020E0502060401010101" pitchFamily="34" charset="-79"/>
              </a:rPr>
              <a:t>ַמִּדְבָּ֡ר בָּֽעֲרָבָה֩ מ֨וֹל ס֜וּף </a:t>
            </a:r>
            <a:r>
              <a:rPr lang="he-IL" sz="3200" dirty="0" err="1">
                <a:solidFill>
                  <a:srgbClr val="000000"/>
                </a:solidFill>
                <a:latin typeface="David" panose="020E0502060401010101" pitchFamily="34" charset="-79"/>
                <a:cs typeface="David" panose="020E0502060401010101" pitchFamily="34" charset="-79"/>
              </a:rPr>
              <a:t>בֵּֽין־פָּארָ֧ן</a:t>
            </a:r>
            <a:r>
              <a:rPr lang="he-IL" sz="3200" dirty="0">
                <a:solidFill>
                  <a:srgbClr val="000000"/>
                </a:solidFill>
                <a:latin typeface="David" panose="020E0502060401010101" pitchFamily="34" charset="-79"/>
                <a:cs typeface="David" panose="020E0502060401010101" pitchFamily="34" charset="-79"/>
              </a:rPr>
              <a:t> </a:t>
            </a:r>
            <a:r>
              <a:rPr lang="he-IL" sz="3200" dirty="0" err="1">
                <a:solidFill>
                  <a:srgbClr val="000000"/>
                </a:solidFill>
                <a:latin typeface="David" panose="020E0502060401010101" pitchFamily="34" charset="-79"/>
                <a:cs typeface="David" panose="020E0502060401010101" pitchFamily="34" charset="-79"/>
              </a:rPr>
              <a:t>וּבֵֽין־תֹּ֛פֶל</a:t>
            </a:r>
            <a:r>
              <a:rPr lang="he-IL" sz="3200" dirty="0">
                <a:solidFill>
                  <a:srgbClr val="000000"/>
                </a:solidFill>
                <a:latin typeface="David" panose="020E0502060401010101" pitchFamily="34" charset="-79"/>
                <a:cs typeface="David" panose="020E0502060401010101" pitchFamily="34" charset="-79"/>
              </a:rPr>
              <a:t> וְלָבָ֥ן </a:t>
            </a:r>
            <a:r>
              <a:rPr lang="he-IL" sz="3200" dirty="0" err="1">
                <a:solidFill>
                  <a:srgbClr val="000000"/>
                </a:solidFill>
                <a:latin typeface="David" panose="020E0502060401010101" pitchFamily="34" charset="-79"/>
                <a:cs typeface="David" panose="020E0502060401010101" pitchFamily="34" charset="-79"/>
              </a:rPr>
              <a:t>וַֽחֲצֵרֹ֖ת</a:t>
            </a:r>
            <a:r>
              <a:rPr lang="he-IL" sz="3200" dirty="0">
                <a:solidFill>
                  <a:srgbClr val="000000"/>
                </a:solidFill>
                <a:latin typeface="David" panose="020E0502060401010101" pitchFamily="34" charset="-79"/>
                <a:cs typeface="David" panose="020E0502060401010101" pitchFamily="34" charset="-79"/>
              </a:rPr>
              <a:t> וְדִ֥י זָהָֽב׃</a:t>
            </a:r>
            <a:endParaRPr lang="he-IL" sz="3200" dirty="0">
              <a:latin typeface="David" panose="020E0502060401010101" pitchFamily="34" charset="-79"/>
              <a:cs typeface="David" panose="020E0502060401010101" pitchFamily="34" charset="-79"/>
            </a:endParaRPr>
          </a:p>
        </p:txBody>
      </p:sp>
      <p:sp>
        <p:nvSpPr>
          <p:cNvPr id="4" name="TextBox 3">
            <a:extLst>
              <a:ext uri="{FF2B5EF4-FFF2-40B4-BE49-F238E27FC236}">
                <a16:creationId xmlns:a16="http://schemas.microsoft.com/office/drawing/2014/main" id="{50308808-6A61-48B2-94B9-45AFDD65F4D6}"/>
              </a:ext>
            </a:extLst>
          </p:cNvPr>
          <p:cNvSpPr txBox="1"/>
          <p:nvPr/>
        </p:nvSpPr>
        <p:spPr>
          <a:xfrm>
            <a:off x="1484645" y="146654"/>
            <a:ext cx="4732020" cy="1384995"/>
          </a:xfrm>
          <a:prstGeom prst="rect">
            <a:avLst/>
          </a:prstGeom>
          <a:solidFill>
            <a:schemeClr val="accent4">
              <a:lumMod val="20000"/>
              <a:lumOff val="80000"/>
            </a:schemeClr>
          </a:solidFill>
          <a:ln w="38100">
            <a:solidFill>
              <a:schemeClr val="tx1"/>
            </a:solidFill>
          </a:ln>
        </p:spPr>
        <p:txBody>
          <a:bodyPr wrap="square" rtlCol="1">
            <a:spAutoFit/>
          </a:bodyPr>
          <a:lstStyle/>
          <a:p>
            <a:pPr algn="r"/>
            <a:r>
              <a:rPr lang="he-IL" sz="2800" dirty="0">
                <a:latin typeface="David" panose="020E0502060401010101" pitchFamily="34" charset="-79"/>
                <a:cs typeface="David" panose="020E0502060401010101" pitchFamily="34" charset="-79"/>
              </a:rPr>
              <a:t>א. אלה הדברים שמשה רבינו אמר אל כל בני ישראל כאשר הם חנו בצד המזרחי של הירדן</a:t>
            </a:r>
          </a:p>
        </p:txBody>
      </p:sp>
      <p:sp>
        <p:nvSpPr>
          <p:cNvPr id="5" name="TextBox 4">
            <a:extLst>
              <a:ext uri="{FF2B5EF4-FFF2-40B4-BE49-F238E27FC236}">
                <a16:creationId xmlns:a16="http://schemas.microsoft.com/office/drawing/2014/main" id="{73EC40A1-4C08-44BB-A9AD-BEDC365B71B4}"/>
              </a:ext>
            </a:extLst>
          </p:cNvPr>
          <p:cNvSpPr txBox="1"/>
          <p:nvPr/>
        </p:nvSpPr>
        <p:spPr>
          <a:xfrm>
            <a:off x="7115101" y="3790057"/>
            <a:ext cx="4732020" cy="2246769"/>
          </a:xfrm>
          <a:prstGeom prst="rect">
            <a:avLst/>
          </a:prstGeom>
          <a:solidFill>
            <a:schemeClr val="accent4">
              <a:lumMod val="60000"/>
              <a:lumOff val="40000"/>
            </a:schemeClr>
          </a:solidFill>
          <a:ln w="38100">
            <a:solidFill>
              <a:schemeClr val="tx1"/>
            </a:solidFill>
          </a:ln>
        </p:spPr>
        <p:txBody>
          <a:bodyPr wrap="square" rtlCol="1">
            <a:spAutoFit/>
          </a:bodyPr>
          <a:lstStyle/>
          <a:p>
            <a:pPr algn="r"/>
            <a:r>
              <a:rPr lang="he-IL" sz="2800" dirty="0">
                <a:latin typeface="David" panose="020E0502060401010101" pitchFamily="34" charset="-79"/>
                <a:cs typeface="David" panose="020E0502060401010101" pitchFamily="34" charset="-79"/>
              </a:rPr>
              <a:t>כל חומש דברים שמשה נואם לעם ישראל </a:t>
            </a:r>
            <a:r>
              <a:rPr lang="he-IL" sz="2800" b="1" dirty="0">
                <a:highlight>
                  <a:srgbClr val="FFFF00"/>
                </a:highlight>
                <a:latin typeface="David" panose="020E0502060401010101" pitchFamily="34" charset="-79"/>
                <a:cs typeface="David" panose="020E0502060401010101" pitchFamily="34" charset="-79"/>
              </a:rPr>
              <a:t>היה במשך 36 ימים </a:t>
            </a:r>
            <a:r>
              <a:rPr lang="he-IL" sz="2800" dirty="0">
                <a:latin typeface="David" panose="020E0502060401010101" pitchFamily="34" charset="-79"/>
                <a:cs typeface="David" panose="020E0502060401010101" pitchFamily="34" charset="-79"/>
              </a:rPr>
              <a:t>מראש חודש שבט ועד ז' באדר שנפטר משה. וזה רמוז במילה "אלה" </a:t>
            </a:r>
            <a:r>
              <a:rPr lang="he-IL" sz="2800" dirty="0" err="1">
                <a:latin typeface="David" panose="020E0502060401010101" pitchFamily="34" charset="-79"/>
                <a:cs typeface="David" panose="020E0502060401010101" pitchFamily="34" charset="-79"/>
              </a:rPr>
              <a:t>גימטריה</a:t>
            </a:r>
            <a:r>
              <a:rPr lang="he-IL" sz="2800" dirty="0">
                <a:latin typeface="David" panose="020E0502060401010101" pitchFamily="34" charset="-79"/>
                <a:cs typeface="David" panose="020E0502060401010101" pitchFamily="34" charset="-79"/>
              </a:rPr>
              <a:t> 36 </a:t>
            </a:r>
          </a:p>
        </p:txBody>
      </p:sp>
      <p:sp>
        <p:nvSpPr>
          <p:cNvPr id="6" name="TextBox 5">
            <a:extLst>
              <a:ext uri="{FF2B5EF4-FFF2-40B4-BE49-F238E27FC236}">
                <a16:creationId xmlns:a16="http://schemas.microsoft.com/office/drawing/2014/main" id="{A405FC01-4BAB-4AD0-A42B-7BB0CF4317AD}"/>
              </a:ext>
            </a:extLst>
          </p:cNvPr>
          <p:cNvSpPr txBox="1"/>
          <p:nvPr/>
        </p:nvSpPr>
        <p:spPr>
          <a:xfrm>
            <a:off x="127731" y="4501789"/>
            <a:ext cx="6473105" cy="2062103"/>
          </a:xfrm>
          <a:prstGeom prst="rect">
            <a:avLst/>
          </a:prstGeom>
          <a:solidFill>
            <a:schemeClr val="accent4">
              <a:lumMod val="20000"/>
              <a:lumOff val="80000"/>
            </a:schemeClr>
          </a:solidFill>
          <a:ln w="38100">
            <a:solidFill>
              <a:schemeClr val="tx1"/>
            </a:solidFill>
          </a:ln>
        </p:spPr>
        <p:txBody>
          <a:bodyPr wrap="square" rtlCol="1">
            <a:spAutoFit/>
          </a:bodyPr>
          <a:lstStyle/>
          <a:p>
            <a:pPr algn="r"/>
            <a:r>
              <a:rPr lang="he-IL" sz="2800" dirty="0">
                <a:latin typeface="David" panose="020E0502060401010101" pitchFamily="34" charset="-79"/>
                <a:cs typeface="David" panose="020E0502060401010101" pitchFamily="34" charset="-79"/>
              </a:rPr>
              <a:t>"אלה הדברים" – </a:t>
            </a:r>
            <a:r>
              <a:rPr lang="he-IL" dirty="0">
                <a:latin typeface="David" panose="020E0502060401010101" pitchFamily="34" charset="-79"/>
                <a:cs typeface="David" panose="020E0502060401010101" pitchFamily="34" charset="-79"/>
              </a:rPr>
              <a:t>משה רבינו אמר דברי תוכחות לבני ישראל ומנה כאן את המקומות שהכעיסו </a:t>
            </a:r>
            <a:r>
              <a:rPr lang="he-IL" dirty="0" err="1">
                <a:latin typeface="David" panose="020E0502060401010101" pitchFamily="34" charset="-79"/>
                <a:cs typeface="David" panose="020E0502060401010101" pitchFamily="34" charset="-79"/>
              </a:rPr>
              <a:t>בנ"י</a:t>
            </a:r>
            <a:r>
              <a:rPr lang="he-IL" dirty="0">
                <a:latin typeface="David" panose="020E0502060401010101" pitchFamily="34" charset="-79"/>
                <a:cs typeface="David" panose="020E0502060401010101" pitchFamily="34" charset="-79"/>
              </a:rPr>
              <a:t> את הקב"ה לפיכך סתם ואמר את המקומות ברמז מפני הכבוד של עם ישראל שלא לביישם</a:t>
            </a:r>
            <a:endParaRPr lang="en-US" dirty="0">
              <a:latin typeface="David" panose="020E0502060401010101" pitchFamily="34" charset="-79"/>
              <a:cs typeface="David" panose="020E0502060401010101" pitchFamily="34" charset="-79"/>
            </a:endParaRPr>
          </a:p>
          <a:p>
            <a:pPr algn="r"/>
            <a:r>
              <a:rPr lang="he-IL" sz="2800" dirty="0">
                <a:latin typeface="David" panose="020E0502060401010101" pitchFamily="34" charset="-79"/>
                <a:cs typeface="David" panose="020E0502060401010101" pitchFamily="34" charset="-79"/>
              </a:rPr>
              <a:t>"אל כל ישראל"- </a:t>
            </a:r>
            <a:r>
              <a:rPr lang="he-IL" dirty="0">
                <a:latin typeface="David" panose="020E0502060401010101" pitchFamily="34" charset="-79"/>
                <a:cs typeface="David" panose="020E0502060401010101" pitchFamily="34" charset="-79"/>
              </a:rPr>
              <a:t>אלו היה משה מוכיח רק מקצת עם ישראל היו אומרים האחרים אם היה משה מוכיח אותנו היינו משיבים לו. לכן כנס משה את כולם ואמר "כולכם פה מי שיש לו מה להשיב – שישיב". </a:t>
            </a:r>
            <a:endParaRPr lang="he-IL" sz="2800" dirty="0">
              <a:latin typeface="David" panose="020E0502060401010101" pitchFamily="34" charset="-79"/>
              <a:cs typeface="David" panose="020E0502060401010101" pitchFamily="34" charset="-79"/>
            </a:endParaRPr>
          </a:p>
        </p:txBody>
      </p:sp>
      <p:sp>
        <p:nvSpPr>
          <p:cNvPr id="8" name="מלבן 7">
            <a:extLst>
              <a:ext uri="{FF2B5EF4-FFF2-40B4-BE49-F238E27FC236}">
                <a16:creationId xmlns:a16="http://schemas.microsoft.com/office/drawing/2014/main" id="{3628FC8B-F3ED-411C-A389-952A34BAEA49}"/>
              </a:ext>
            </a:extLst>
          </p:cNvPr>
          <p:cNvSpPr/>
          <p:nvPr/>
        </p:nvSpPr>
        <p:spPr>
          <a:xfrm>
            <a:off x="270606" y="1647113"/>
            <a:ext cx="6096000" cy="2739211"/>
          </a:xfrm>
          <a:prstGeom prst="rect">
            <a:avLst/>
          </a:prstGeom>
          <a:solidFill>
            <a:schemeClr val="accent5">
              <a:lumMod val="40000"/>
              <a:lumOff val="60000"/>
            </a:schemeClr>
          </a:solidFill>
        </p:spPr>
        <p:txBody>
          <a:bodyPr>
            <a:spAutoFit/>
          </a:bodyPr>
          <a:lstStyle/>
          <a:p>
            <a:pPr algn="ctr"/>
            <a:r>
              <a:rPr lang="he-IL" sz="2400" b="1" u="sng" dirty="0">
                <a:solidFill>
                  <a:srgbClr val="202122"/>
                </a:solidFill>
                <a:latin typeface="David" panose="020E0502060401010101" pitchFamily="34" charset="-79"/>
                <a:cs typeface="David" panose="020E0502060401010101" pitchFamily="34" charset="-79"/>
              </a:rPr>
              <a:t>רש"י פסוק א':</a:t>
            </a:r>
          </a:p>
          <a:p>
            <a:pPr algn="r"/>
            <a:r>
              <a:rPr lang="he-IL" sz="2400" b="1" u="sng" dirty="0">
                <a:solidFill>
                  <a:srgbClr val="202122"/>
                </a:solidFill>
                <a:highlight>
                  <a:srgbClr val="FFFF00"/>
                </a:highlight>
                <a:latin typeface="David" panose="020E0502060401010101" pitchFamily="34" charset="-79"/>
                <a:cs typeface="David" panose="020E0502060401010101" pitchFamily="34" charset="-79"/>
              </a:rPr>
              <a:t>"</a:t>
            </a:r>
            <a:r>
              <a:rPr lang="he-IL" sz="2400" b="1" u="sng" dirty="0">
                <a:solidFill>
                  <a:srgbClr val="111155"/>
                </a:solidFill>
                <a:highlight>
                  <a:srgbClr val="FFFF00"/>
                </a:highlight>
                <a:latin typeface="David" panose="020E0502060401010101" pitchFamily="34" charset="-79"/>
                <a:cs typeface="David" panose="020E0502060401010101" pitchFamily="34" charset="-79"/>
              </a:rPr>
              <a:t>אלה הדברים</a:t>
            </a:r>
            <a:r>
              <a:rPr lang="he-IL" sz="2400" b="1" u="sng" dirty="0">
                <a:solidFill>
                  <a:srgbClr val="202122"/>
                </a:solidFill>
                <a:highlight>
                  <a:srgbClr val="FFFF00"/>
                </a:highlight>
                <a:latin typeface="David" panose="020E0502060401010101" pitchFamily="34" charset="-79"/>
                <a:cs typeface="David" panose="020E0502060401010101" pitchFamily="34" charset="-79"/>
              </a:rPr>
              <a:t>" </a:t>
            </a:r>
            <a:r>
              <a:rPr lang="he-IL" sz="2400" dirty="0">
                <a:solidFill>
                  <a:srgbClr val="202122"/>
                </a:solidFill>
                <a:latin typeface="David" panose="020E0502060401010101" pitchFamily="34" charset="-79"/>
                <a:cs typeface="David" panose="020E0502060401010101" pitchFamily="34" charset="-79"/>
              </a:rPr>
              <a:t>- </a:t>
            </a:r>
            <a:r>
              <a:rPr lang="he-IL" sz="2000" b="1" dirty="0">
                <a:solidFill>
                  <a:srgbClr val="202122"/>
                </a:solidFill>
                <a:latin typeface="David" panose="020E0502060401010101" pitchFamily="34" charset="-79"/>
                <a:cs typeface="David" panose="020E0502060401010101" pitchFamily="34" charset="-79"/>
              </a:rPr>
              <a:t>לפי שהן דברי תוכחות </a:t>
            </a:r>
            <a:r>
              <a:rPr lang="he-IL" sz="2000" dirty="0">
                <a:solidFill>
                  <a:srgbClr val="202122"/>
                </a:solidFill>
                <a:latin typeface="David" panose="020E0502060401010101" pitchFamily="34" charset="-79"/>
                <a:cs typeface="David" panose="020E0502060401010101" pitchFamily="34" charset="-79"/>
              </a:rPr>
              <a:t>ומנה כאן כל המקומות שהכעיסו לפני המקום בהן </a:t>
            </a:r>
            <a:r>
              <a:rPr lang="he-IL" sz="2000" b="1" dirty="0">
                <a:solidFill>
                  <a:srgbClr val="202122"/>
                </a:solidFill>
                <a:highlight>
                  <a:srgbClr val="00FFFF"/>
                </a:highlight>
                <a:latin typeface="David" panose="020E0502060401010101" pitchFamily="34" charset="-79"/>
                <a:cs typeface="David" panose="020E0502060401010101" pitchFamily="34" charset="-79"/>
              </a:rPr>
              <a:t>לפיכך סתם את הדברים והזכירם ברמז מפני כבודן של ישראל</a:t>
            </a:r>
          </a:p>
          <a:p>
            <a:pPr algn="r"/>
            <a:r>
              <a:rPr lang="he-IL" sz="2400" b="1" dirty="0">
                <a:solidFill>
                  <a:srgbClr val="202122"/>
                </a:solidFill>
                <a:highlight>
                  <a:srgbClr val="FFFF00"/>
                </a:highlight>
                <a:latin typeface="David" panose="020E0502060401010101" pitchFamily="34" charset="-79"/>
                <a:cs typeface="David" panose="020E0502060401010101" pitchFamily="34" charset="-79"/>
              </a:rPr>
              <a:t>"</a:t>
            </a:r>
            <a:r>
              <a:rPr lang="he-IL" sz="2400" b="1" dirty="0">
                <a:solidFill>
                  <a:srgbClr val="111155"/>
                </a:solidFill>
                <a:highlight>
                  <a:srgbClr val="FFFF00"/>
                </a:highlight>
                <a:latin typeface="David" panose="020E0502060401010101" pitchFamily="34" charset="-79"/>
                <a:cs typeface="David" panose="020E0502060401010101" pitchFamily="34" charset="-79"/>
              </a:rPr>
              <a:t>אל כל ישראל</a:t>
            </a:r>
            <a:r>
              <a:rPr lang="he-IL" sz="2400" b="1" dirty="0">
                <a:solidFill>
                  <a:srgbClr val="202122"/>
                </a:solidFill>
                <a:highlight>
                  <a:srgbClr val="FFFF00"/>
                </a:highlight>
                <a:latin typeface="David" panose="020E0502060401010101" pitchFamily="34" charset="-79"/>
                <a:cs typeface="David" panose="020E0502060401010101" pitchFamily="34" charset="-79"/>
              </a:rPr>
              <a:t>" </a:t>
            </a:r>
            <a:r>
              <a:rPr lang="he-IL" sz="2000" dirty="0">
                <a:solidFill>
                  <a:srgbClr val="202122"/>
                </a:solidFill>
                <a:latin typeface="David" panose="020E0502060401010101" pitchFamily="34" charset="-79"/>
                <a:cs typeface="David" panose="020E0502060401010101" pitchFamily="34" charset="-79"/>
              </a:rPr>
              <a:t>- </a:t>
            </a:r>
            <a:r>
              <a:rPr lang="he-IL" sz="2000" b="1" dirty="0">
                <a:solidFill>
                  <a:srgbClr val="202122"/>
                </a:solidFill>
                <a:latin typeface="David" panose="020E0502060401010101" pitchFamily="34" charset="-79"/>
                <a:cs typeface="David" panose="020E0502060401010101" pitchFamily="34" charset="-79"/>
              </a:rPr>
              <a:t>אלו הוכיח מקצתן </a:t>
            </a:r>
            <a:r>
              <a:rPr lang="he-IL" sz="2000" dirty="0">
                <a:solidFill>
                  <a:srgbClr val="202122"/>
                </a:solidFill>
                <a:latin typeface="David" panose="020E0502060401010101" pitchFamily="34" charset="-79"/>
                <a:cs typeface="David" panose="020E0502060401010101" pitchFamily="34" charset="-79"/>
              </a:rPr>
              <a:t>היו אלו שבשוק אומרים אתם הייתם שומעים מבן עמרם ולא השיבותם דבר מכך וכך אלו היינו שם היינו משיבים אותו </a:t>
            </a:r>
            <a:r>
              <a:rPr lang="he-IL" sz="2000" b="1" dirty="0">
                <a:solidFill>
                  <a:srgbClr val="202122"/>
                </a:solidFill>
                <a:latin typeface="David" panose="020E0502060401010101" pitchFamily="34" charset="-79"/>
                <a:cs typeface="David" panose="020E0502060401010101" pitchFamily="34" charset="-79"/>
              </a:rPr>
              <a:t>לכך כנסם כולם ואמר להם הרי כולכם כאן כל מי שיש לו תשובה ישיב</a:t>
            </a:r>
            <a:endParaRPr lang="he-IL" sz="2000" b="1" i="0" dirty="0">
              <a:solidFill>
                <a:srgbClr val="202122"/>
              </a:solidFill>
              <a:effectLst/>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75823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7BD60A04-A6FE-403A-9838-8E5F0B42720F}"/>
              </a:ext>
            </a:extLst>
          </p:cNvPr>
          <p:cNvSpPr/>
          <p:nvPr/>
        </p:nvSpPr>
        <p:spPr>
          <a:xfrm>
            <a:off x="6419010" y="436076"/>
            <a:ext cx="5330575" cy="2062103"/>
          </a:xfrm>
          <a:prstGeom prst="rect">
            <a:avLst/>
          </a:prstGeom>
          <a:solidFill>
            <a:schemeClr val="accent6">
              <a:lumMod val="20000"/>
              <a:lumOff val="80000"/>
            </a:schemeClr>
          </a:solidFill>
        </p:spPr>
        <p:txBody>
          <a:bodyPr wrap="square">
            <a:spAutoFit/>
          </a:bodyPr>
          <a:lstStyle/>
          <a:p>
            <a:pPr algn="r"/>
            <a:r>
              <a:rPr lang="he-IL" sz="3200" dirty="0">
                <a:solidFill>
                  <a:srgbClr val="000000"/>
                </a:solidFill>
                <a:latin typeface="David" panose="020E0502060401010101" pitchFamily="34" charset="-79"/>
                <a:cs typeface="David" panose="020E0502060401010101" pitchFamily="34" charset="-79"/>
              </a:rPr>
              <a:t>א אֵ֣לֶּה הַדְּבָרִ֗ים אֲשֶׁ֨ר דִּבֶּ֤ר מֹשֶׁה֙ </a:t>
            </a:r>
            <a:r>
              <a:rPr lang="he-IL" sz="3200" dirty="0" err="1">
                <a:solidFill>
                  <a:srgbClr val="000000"/>
                </a:solidFill>
                <a:latin typeface="David" panose="020E0502060401010101" pitchFamily="34" charset="-79"/>
                <a:cs typeface="David" panose="020E0502060401010101" pitchFamily="34" charset="-79"/>
              </a:rPr>
              <a:t>אֶל־כָּל־יִשְׂרָאֵ֔ל</a:t>
            </a:r>
            <a:r>
              <a:rPr lang="he-IL" sz="3200" dirty="0">
                <a:solidFill>
                  <a:srgbClr val="000000"/>
                </a:solidFill>
                <a:latin typeface="David" panose="020E0502060401010101" pitchFamily="34" charset="-79"/>
                <a:cs typeface="David" panose="020E0502060401010101" pitchFamily="34" charset="-79"/>
              </a:rPr>
              <a:t> בְּעֵ֖בֶר הַיַּרְדֵּ֑ן </a:t>
            </a:r>
            <a:r>
              <a:rPr lang="he-IL" sz="3200" b="1" dirty="0">
                <a:solidFill>
                  <a:srgbClr val="000000"/>
                </a:solidFill>
                <a:highlight>
                  <a:srgbClr val="FFFF00"/>
                </a:highlight>
                <a:latin typeface="David" panose="020E0502060401010101" pitchFamily="34" charset="-79"/>
                <a:cs typeface="David" panose="020E0502060401010101" pitchFamily="34" charset="-79"/>
              </a:rPr>
              <a:t>בַּמִּדְבָּ֡ר בָּֽעֲרָבָה֩ מ֨וֹל ס֜וּף </a:t>
            </a:r>
            <a:r>
              <a:rPr lang="he-IL" sz="3200" b="1" dirty="0" err="1">
                <a:solidFill>
                  <a:srgbClr val="000000"/>
                </a:solidFill>
                <a:highlight>
                  <a:srgbClr val="FFFF00"/>
                </a:highlight>
                <a:latin typeface="David" panose="020E0502060401010101" pitchFamily="34" charset="-79"/>
                <a:cs typeface="David" panose="020E0502060401010101" pitchFamily="34" charset="-79"/>
              </a:rPr>
              <a:t>בֵּֽין־פָּארָ֧ן</a:t>
            </a:r>
            <a:r>
              <a:rPr lang="he-IL" sz="3200" b="1" dirty="0">
                <a:solidFill>
                  <a:srgbClr val="000000"/>
                </a:solidFill>
                <a:highlight>
                  <a:srgbClr val="FFFF00"/>
                </a:highlight>
                <a:latin typeface="David" panose="020E0502060401010101" pitchFamily="34" charset="-79"/>
                <a:cs typeface="David" panose="020E0502060401010101" pitchFamily="34" charset="-79"/>
              </a:rPr>
              <a:t> </a:t>
            </a:r>
            <a:r>
              <a:rPr lang="he-IL" sz="3200" b="1" dirty="0" err="1">
                <a:solidFill>
                  <a:srgbClr val="000000"/>
                </a:solidFill>
                <a:highlight>
                  <a:srgbClr val="FFFF00"/>
                </a:highlight>
                <a:latin typeface="David" panose="020E0502060401010101" pitchFamily="34" charset="-79"/>
                <a:cs typeface="David" panose="020E0502060401010101" pitchFamily="34" charset="-79"/>
              </a:rPr>
              <a:t>וּבֵֽין־תֹּ֛פֶל</a:t>
            </a:r>
            <a:r>
              <a:rPr lang="he-IL" sz="3200" b="1" dirty="0">
                <a:solidFill>
                  <a:srgbClr val="000000"/>
                </a:solidFill>
                <a:highlight>
                  <a:srgbClr val="FFFF00"/>
                </a:highlight>
                <a:latin typeface="David" panose="020E0502060401010101" pitchFamily="34" charset="-79"/>
                <a:cs typeface="David" panose="020E0502060401010101" pitchFamily="34" charset="-79"/>
              </a:rPr>
              <a:t> וְלָבָ֥ן </a:t>
            </a:r>
            <a:r>
              <a:rPr lang="he-IL" sz="3200" b="1" dirty="0" err="1">
                <a:solidFill>
                  <a:srgbClr val="000000"/>
                </a:solidFill>
                <a:highlight>
                  <a:srgbClr val="FFFF00"/>
                </a:highlight>
                <a:latin typeface="David" panose="020E0502060401010101" pitchFamily="34" charset="-79"/>
                <a:cs typeface="David" panose="020E0502060401010101" pitchFamily="34" charset="-79"/>
              </a:rPr>
              <a:t>וַֽחֲצֵרֹ֖ת</a:t>
            </a:r>
            <a:r>
              <a:rPr lang="he-IL" sz="3200" b="1" dirty="0">
                <a:solidFill>
                  <a:srgbClr val="000000"/>
                </a:solidFill>
                <a:highlight>
                  <a:srgbClr val="FFFF00"/>
                </a:highlight>
                <a:latin typeface="David" panose="020E0502060401010101" pitchFamily="34" charset="-79"/>
                <a:cs typeface="David" panose="020E0502060401010101" pitchFamily="34" charset="-79"/>
              </a:rPr>
              <a:t> וְדִ֥י זָהָֽב׃</a:t>
            </a:r>
            <a:endParaRPr lang="he-IL" sz="3200" b="1" dirty="0">
              <a:highlight>
                <a:srgbClr val="FFFF00"/>
              </a:highlight>
              <a:latin typeface="David" panose="020E0502060401010101" pitchFamily="34" charset="-79"/>
              <a:cs typeface="David" panose="020E0502060401010101" pitchFamily="34" charset="-79"/>
            </a:endParaRPr>
          </a:p>
        </p:txBody>
      </p:sp>
      <p:sp>
        <p:nvSpPr>
          <p:cNvPr id="3" name="TextBox 2">
            <a:extLst>
              <a:ext uri="{FF2B5EF4-FFF2-40B4-BE49-F238E27FC236}">
                <a16:creationId xmlns:a16="http://schemas.microsoft.com/office/drawing/2014/main" id="{41DB7948-EEA7-4EFD-B454-DEE9A15B3542}"/>
              </a:ext>
            </a:extLst>
          </p:cNvPr>
          <p:cNvSpPr txBox="1"/>
          <p:nvPr/>
        </p:nvSpPr>
        <p:spPr>
          <a:xfrm>
            <a:off x="109728" y="436076"/>
            <a:ext cx="6044069" cy="5262979"/>
          </a:xfrm>
          <a:prstGeom prst="rect">
            <a:avLst/>
          </a:prstGeom>
          <a:solidFill>
            <a:schemeClr val="accent4">
              <a:lumMod val="20000"/>
              <a:lumOff val="80000"/>
            </a:schemeClr>
          </a:solidFill>
          <a:ln w="38100">
            <a:solidFill>
              <a:schemeClr val="tx1"/>
            </a:solidFill>
          </a:ln>
        </p:spPr>
        <p:txBody>
          <a:bodyPr wrap="square" rtlCol="1">
            <a:spAutoFit/>
          </a:bodyPr>
          <a:lstStyle/>
          <a:p>
            <a:pPr algn="r"/>
            <a:r>
              <a:rPr lang="he-IL" sz="2400" dirty="0">
                <a:latin typeface="David" panose="020E0502060401010101" pitchFamily="34" charset="-79"/>
                <a:cs typeface="David" panose="020E0502060401010101" pitchFamily="34" charset="-79"/>
              </a:rPr>
              <a:t>משה אמר דברי תוכחות לבני ישראל ומנה את כל המקומות שהכעיסו בני ישראל את הקב"ה והזכיר אותם ברמז מפני כבודם:</a:t>
            </a:r>
          </a:p>
          <a:p>
            <a:pPr algn="r"/>
            <a:r>
              <a:rPr lang="he-IL" sz="2400" b="1" u="sng" dirty="0">
                <a:latin typeface="David" panose="020E0502060401010101" pitchFamily="34" charset="-79"/>
                <a:cs typeface="David" panose="020E0502060401010101" pitchFamily="34" charset="-79"/>
              </a:rPr>
              <a:t>"במדבר"- </a:t>
            </a:r>
            <a:r>
              <a:rPr lang="he-IL" sz="2400" dirty="0">
                <a:latin typeface="David" panose="020E0502060401010101" pitchFamily="34" charset="-79"/>
                <a:cs typeface="David" panose="020E0502060401010101" pitchFamily="34" charset="-79"/>
              </a:rPr>
              <a:t>התלוננו שאין להם מה לאכול "מי </a:t>
            </a:r>
            <a:r>
              <a:rPr lang="he-IL" sz="2400" dirty="0" err="1">
                <a:latin typeface="David" panose="020E0502060401010101" pitchFamily="34" charset="-79"/>
                <a:cs typeface="David" panose="020E0502060401010101" pitchFamily="34" charset="-79"/>
              </a:rPr>
              <a:t>יתן</a:t>
            </a:r>
            <a:r>
              <a:rPr lang="he-IL" sz="2400" dirty="0">
                <a:latin typeface="David" panose="020E0502060401010101" pitchFamily="34" charset="-79"/>
                <a:cs typeface="David" panose="020E0502060401010101" pitchFamily="34" charset="-79"/>
              </a:rPr>
              <a:t> </a:t>
            </a:r>
            <a:r>
              <a:rPr lang="he-IL" sz="2400" dirty="0" err="1">
                <a:latin typeface="David" panose="020E0502060401010101" pitchFamily="34" charset="-79"/>
                <a:cs typeface="David" panose="020E0502060401010101" pitchFamily="34" charset="-79"/>
              </a:rPr>
              <a:t>מותינו</a:t>
            </a:r>
            <a:r>
              <a:rPr lang="he-IL" sz="2400" dirty="0">
                <a:latin typeface="David" panose="020E0502060401010101" pitchFamily="34" charset="-79"/>
                <a:cs typeface="David" panose="020E0502060401010101" pitchFamily="34" charset="-79"/>
              </a:rPr>
              <a:t> בארץ מצרים.. " (שמות </a:t>
            </a:r>
            <a:r>
              <a:rPr lang="he-IL" sz="2400" dirty="0" err="1">
                <a:latin typeface="David" panose="020E0502060401010101" pitchFamily="34" charset="-79"/>
                <a:cs typeface="David" panose="020E0502060401010101" pitchFamily="34" charset="-79"/>
              </a:rPr>
              <a:t>טז</a:t>
            </a:r>
            <a:r>
              <a:rPr lang="he-IL" sz="2400" dirty="0">
                <a:latin typeface="David" panose="020E0502060401010101" pitchFamily="34" charset="-79"/>
                <a:cs typeface="David" panose="020E0502060401010101" pitchFamily="34" charset="-79"/>
              </a:rPr>
              <a:t>)</a:t>
            </a:r>
          </a:p>
          <a:p>
            <a:pPr algn="r"/>
            <a:r>
              <a:rPr lang="he-IL" sz="2400" b="1" u="sng" dirty="0">
                <a:latin typeface="David" panose="020E0502060401010101" pitchFamily="34" charset="-79"/>
                <a:cs typeface="David" panose="020E0502060401010101" pitchFamily="34" charset="-79"/>
              </a:rPr>
              <a:t>"בערבה"- </a:t>
            </a:r>
            <a:r>
              <a:rPr lang="he-IL" sz="2400" dirty="0">
                <a:latin typeface="David" panose="020E0502060401010101" pitchFamily="34" charset="-79"/>
                <a:cs typeface="David" panose="020E0502060401010101" pitchFamily="34" charset="-79"/>
              </a:rPr>
              <a:t>חטא שחטאו בבעל פעור בערבות מואב. (בלעם)</a:t>
            </a:r>
          </a:p>
          <a:p>
            <a:pPr algn="r"/>
            <a:r>
              <a:rPr lang="he-IL" sz="2400" b="1" u="sng" dirty="0">
                <a:latin typeface="David" panose="020E0502060401010101" pitchFamily="34" charset="-79"/>
                <a:cs typeface="David" panose="020E0502060401010101" pitchFamily="34" charset="-79"/>
              </a:rPr>
              <a:t>"מול סוף"- </a:t>
            </a:r>
            <a:r>
              <a:rPr lang="he-IL" sz="2400" dirty="0">
                <a:latin typeface="David" panose="020E0502060401010101" pitchFamily="34" charset="-79"/>
                <a:cs typeface="David" panose="020E0502060401010101" pitchFamily="34" charset="-79"/>
              </a:rPr>
              <a:t>מה שהמרו לפני ים סוף "המבלי אין קברים במצרים.." </a:t>
            </a:r>
          </a:p>
          <a:p>
            <a:pPr algn="r"/>
            <a:r>
              <a:rPr lang="he-IL" sz="2400" b="1" u="sng" dirty="0">
                <a:latin typeface="David" panose="020E0502060401010101" pitchFamily="34" charset="-79"/>
                <a:cs typeface="David" panose="020E0502060401010101" pitchFamily="34" charset="-79"/>
              </a:rPr>
              <a:t>"בין פארן"- </a:t>
            </a:r>
            <a:r>
              <a:rPr lang="he-IL" sz="2400" dirty="0">
                <a:latin typeface="David" panose="020E0502060401010101" pitchFamily="34" charset="-79"/>
                <a:cs typeface="David" panose="020E0502060401010101" pitchFamily="34" charset="-79"/>
              </a:rPr>
              <a:t>חטא המרגלים שחטאו במדבר פארן</a:t>
            </a:r>
          </a:p>
          <a:p>
            <a:pPr algn="r"/>
            <a:r>
              <a:rPr lang="he-IL" sz="2400" b="1" u="sng" dirty="0">
                <a:latin typeface="David" panose="020E0502060401010101" pitchFamily="34" charset="-79"/>
                <a:cs typeface="David" panose="020E0502060401010101" pitchFamily="34" charset="-79"/>
              </a:rPr>
              <a:t>"ובין תופל ולבן" – </a:t>
            </a:r>
            <a:r>
              <a:rPr lang="he-IL" sz="2400" dirty="0">
                <a:latin typeface="David" panose="020E0502060401010101" pitchFamily="34" charset="-79"/>
                <a:cs typeface="David" panose="020E0502060401010101" pitchFamily="34" charset="-79"/>
              </a:rPr>
              <a:t>על זה שתפלו דברים על המן שהוא לבן "</a:t>
            </a:r>
            <a:r>
              <a:rPr lang="he-IL" sz="2400" dirty="0" err="1">
                <a:latin typeface="David" panose="020E0502060401010101" pitchFamily="34" charset="-79"/>
                <a:cs typeface="David" panose="020E0502060401010101" pitchFamily="34" charset="-79"/>
              </a:rPr>
              <a:t>ונפשינו</a:t>
            </a:r>
            <a:r>
              <a:rPr lang="he-IL" sz="2400" dirty="0">
                <a:latin typeface="David" panose="020E0502060401010101" pitchFamily="34" charset="-79"/>
                <a:cs typeface="David" panose="020E0502060401010101" pitchFamily="34" charset="-79"/>
              </a:rPr>
              <a:t> קצה בלחם הקלוקל</a:t>
            </a:r>
          </a:p>
          <a:p>
            <a:pPr algn="r"/>
            <a:r>
              <a:rPr lang="he-IL" sz="2400" b="1" u="sng" dirty="0">
                <a:latin typeface="David" panose="020E0502060401010101" pitchFamily="34" charset="-79"/>
                <a:cs typeface="David" panose="020E0502060401010101" pitchFamily="34" charset="-79"/>
              </a:rPr>
              <a:t>"וחצרות"- </a:t>
            </a:r>
            <a:r>
              <a:rPr lang="he-IL" sz="2400" dirty="0">
                <a:latin typeface="David" panose="020E0502060401010101" pitchFamily="34" charset="-79"/>
                <a:cs typeface="David" panose="020E0502060401010101" pitchFamily="34" charset="-79"/>
              </a:rPr>
              <a:t>על מחלוקת קרח ועדתו שהיה בחצרות. </a:t>
            </a:r>
          </a:p>
          <a:p>
            <a:pPr algn="r"/>
            <a:r>
              <a:rPr lang="he-IL" sz="2400" b="1" u="sng" dirty="0">
                <a:latin typeface="David" panose="020E0502060401010101" pitchFamily="34" charset="-79"/>
                <a:cs typeface="David" panose="020E0502060401010101" pitchFamily="34" charset="-79"/>
              </a:rPr>
              <a:t>"ודי זהב"- </a:t>
            </a:r>
            <a:r>
              <a:rPr lang="he-IL" sz="2400" dirty="0">
                <a:latin typeface="David" panose="020E0502060401010101" pitchFamily="34" charset="-79"/>
                <a:cs typeface="David" panose="020E0502060401010101" pitchFamily="34" charset="-79"/>
              </a:rPr>
              <a:t>חטא העגל שעשו מזהב</a:t>
            </a:r>
          </a:p>
        </p:txBody>
      </p:sp>
      <p:pic>
        <p:nvPicPr>
          <p:cNvPr id="4" name="תמונה 3">
            <a:extLst>
              <a:ext uri="{FF2B5EF4-FFF2-40B4-BE49-F238E27FC236}">
                <a16:creationId xmlns:a16="http://schemas.microsoft.com/office/drawing/2014/main" id="{75651B1D-48D6-473C-B1E7-2DAB8BFD5F91}"/>
              </a:ext>
            </a:extLst>
          </p:cNvPr>
          <p:cNvPicPr>
            <a:picLocks noChangeAspect="1"/>
          </p:cNvPicPr>
          <p:nvPr/>
        </p:nvPicPr>
        <p:blipFill>
          <a:blip r:embed="rId2"/>
          <a:stretch>
            <a:fillRect/>
          </a:stretch>
        </p:blipFill>
        <p:spPr>
          <a:xfrm>
            <a:off x="8667398" y="5010150"/>
            <a:ext cx="2466975" cy="1847850"/>
          </a:xfrm>
          <a:prstGeom prst="rect">
            <a:avLst/>
          </a:prstGeom>
        </p:spPr>
      </p:pic>
      <p:pic>
        <p:nvPicPr>
          <p:cNvPr id="5" name="תמונה 4">
            <a:extLst>
              <a:ext uri="{FF2B5EF4-FFF2-40B4-BE49-F238E27FC236}">
                <a16:creationId xmlns:a16="http://schemas.microsoft.com/office/drawing/2014/main" id="{D2466F84-0242-43F7-AFDA-F9D85EB4EAA2}"/>
              </a:ext>
            </a:extLst>
          </p:cNvPr>
          <p:cNvPicPr>
            <a:picLocks noChangeAspect="1"/>
          </p:cNvPicPr>
          <p:nvPr/>
        </p:nvPicPr>
        <p:blipFill>
          <a:blip r:embed="rId3"/>
          <a:stretch>
            <a:fillRect/>
          </a:stretch>
        </p:blipFill>
        <p:spPr>
          <a:xfrm>
            <a:off x="6419010" y="2641854"/>
            <a:ext cx="2133600" cy="2143125"/>
          </a:xfrm>
          <a:prstGeom prst="rect">
            <a:avLst/>
          </a:prstGeom>
        </p:spPr>
      </p:pic>
      <p:pic>
        <p:nvPicPr>
          <p:cNvPr id="6" name="תמונה 5">
            <a:extLst>
              <a:ext uri="{FF2B5EF4-FFF2-40B4-BE49-F238E27FC236}">
                <a16:creationId xmlns:a16="http://schemas.microsoft.com/office/drawing/2014/main" id="{5F1910F4-DCF1-4E0D-9A69-33E78A6197E6}"/>
              </a:ext>
            </a:extLst>
          </p:cNvPr>
          <p:cNvPicPr>
            <a:picLocks noChangeAspect="1"/>
          </p:cNvPicPr>
          <p:nvPr/>
        </p:nvPicPr>
        <p:blipFill>
          <a:blip r:embed="rId4"/>
          <a:stretch>
            <a:fillRect/>
          </a:stretch>
        </p:blipFill>
        <p:spPr>
          <a:xfrm>
            <a:off x="9455058" y="3050076"/>
            <a:ext cx="2466975" cy="1847850"/>
          </a:xfrm>
          <a:prstGeom prst="rect">
            <a:avLst/>
          </a:prstGeom>
        </p:spPr>
      </p:pic>
      <p:cxnSp>
        <p:nvCxnSpPr>
          <p:cNvPr id="8" name="מחבר חץ ישר 7">
            <a:extLst>
              <a:ext uri="{FF2B5EF4-FFF2-40B4-BE49-F238E27FC236}">
                <a16:creationId xmlns:a16="http://schemas.microsoft.com/office/drawing/2014/main" id="{0710F1D6-F05A-4498-8F66-15B0C22503D9}"/>
              </a:ext>
            </a:extLst>
          </p:cNvPr>
          <p:cNvCxnSpPr>
            <a:cxnSpLocks/>
          </p:cNvCxnSpPr>
          <p:nvPr/>
        </p:nvCxnSpPr>
        <p:spPr>
          <a:xfrm flipH="1">
            <a:off x="9084297" y="2231136"/>
            <a:ext cx="266967" cy="3377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מחבר חץ ישר 8">
            <a:extLst>
              <a:ext uri="{FF2B5EF4-FFF2-40B4-BE49-F238E27FC236}">
                <a16:creationId xmlns:a16="http://schemas.microsoft.com/office/drawing/2014/main" id="{A60145AF-31FE-4632-ACA3-C365C8E836A6}"/>
              </a:ext>
            </a:extLst>
          </p:cNvPr>
          <p:cNvCxnSpPr>
            <a:cxnSpLocks/>
          </p:cNvCxnSpPr>
          <p:nvPr/>
        </p:nvCxnSpPr>
        <p:spPr>
          <a:xfrm>
            <a:off x="10450506" y="2239518"/>
            <a:ext cx="238039" cy="1362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מחבר חץ ישר 10">
            <a:extLst>
              <a:ext uri="{FF2B5EF4-FFF2-40B4-BE49-F238E27FC236}">
                <a16:creationId xmlns:a16="http://schemas.microsoft.com/office/drawing/2014/main" id="{B0C83B19-5B70-49B3-B1F4-AF60947B129B}"/>
              </a:ext>
            </a:extLst>
          </p:cNvPr>
          <p:cNvCxnSpPr>
            <a:cxnSpLocks/>
          </p:cNvCxnSpPr>
          <p:nvPr/>
        </p:nvCxnSpPr>
        <p:spPr>
          <a:xfrm flipH="1">
            <a:off x="7625325" y="1770317"/>
            <a:ext cx="823653" cy="1658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49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arn(inVertical)">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down)">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barn(inVertical)">
                                      <p:cBhvr>
                                        <p:cTn id="4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a:extLst>
              <a:ext uri="{FF2B5EF4-FFF2-40B4-BE49-F238E27FC236}">
                <a16:creationId xmlns:a16="http://schemas.microsoft.com/office/drawing/2014/main" id="{B801C2CA-EFFC-421B-A23D-20910516F752}"/>
              </a:ext>
            </a:extLst>
          </p:cNvPr>
          <p:cNvSpPr/>
          <p:nvPr/>
        </p:nvSpPr>
        <p:spPr>
          <a:xfrm>
            <a:off x="6678126" y="321067"/>
            <a:ext cx="5274126" cy="2246769"/>
          </a:xfrm>
          <a:prstGeom prst="rect">
            <a:avLst/>
          </a:prstGeom>
          <a:solidFill>
            <a:schemeClr val="accent5">
              <a:lumMod val="40000"/>
              <a:lumOff val="60000"/>
            </a:schemeClr>
          </a:solidFill>
        </p:spPr>
        <p:txBody>
          <a:bodyPr wrap="square">
            <a:spAutoFit/>
          </a:bodyPr>
          <a:lstStyle/>
          <a:p>
            <a:pPr algn="r"/>
            <a:r>
              <a:rPr lang="he-IL" sz="2800" dirty="0">
                <a:solidFill>
                  <a:srgbClr val="000000"/>
                </a:solidFill>
                <a:latin typeface="David" panose="020E0502060401010101" pitchFamily="34" charset="-79"/>
                <a:cs typeface="David" panose="020E0502060401010101" pitchFamily="34" charset="-79"/>
              </a:rPr>
              <a:t> </a:t>
            </a:r>
            <a:r>
              <a:rPr lang="he-IL" sz="2800" b="1" dirty="0">
                <a:solidFill>
                  <a:srgbClr val="000000"/>
                </a:solidFill>
                <a:latin typeface="David" panose="020E0502060401010101" pitchFamily="34" charset="-79"/>
                <a:cs typeface="David" panose="020E0502060401010101" pitchFamily="34" charset="-79"/>
              </a:rPr>
              <a:t>ב</a:t>
            </a:r>
            <a:r>
              <a:rPr lang="he-IL" sz="2800" dirty="0">
                <a:solidFill>
                  <a:srgbClr val="000000"/>
                </a:solidFill>
                <a:latin typeface="David" panose="020E0502060401010101" pitchFamily="34" charset="-79"/>
                <a:cs typeface="David" panose="020E0502060401010101" pitchFamily="34" charset="-79"/>
              </a:rPr>
              <a:t> </a:t>
            </a:r>
            <a:r>
              <a:rPr lang="he-IL" sz="2800" b="1" dirty="0">
                <a:solidFill>
                  <a:srgbClr val="000000"/>
                </a:solidFill>
                <a:highlight>
                  <a:srgbClr val="FFFF00"/>
                </a:highlight>
                <a:latin typeface="David" panose="020E0502060401010101" pitchFamily="34" charset="-79"/>
                <a:cs typeface="David" panose="020E0502060401010101" pitchFamily="34" charset="-79"/>
              </a:rPr>
              <a:t>אַחַ֨ד עָשָׂ֥ר יוֹם֙ מֵֽחֹרֵ֔ב </a:t>
            </a:r>
            <a:r>
              <a:rPr lang="he-IL" sz="2800" dirty="0">
                <a:solidFill>
                  <a:srgbClr val="000000"/>
                </a:solidFill>
                <a:latin typeface="David" panose="020E0502060401010101" pitchFamily="34" charset="-79"/>
                <a:cs typeface="David" panose="020E0502060401010101" pitchFamily="34" charset="-79"/>
              </a:rPr>
              <a:t>דֶּ֖רֶךְ </a:t>
            </a:r>
            <a:r>
              <a:rPr lang="he-IL" sz="2800" dirty="0" err="1">
                <a:solidFill>
                  <a:srgbClr val="000000"/>
                </a:solidFill>
                <a:latin typeface="David" panose="020E0502060401010101" pitchFamily="34" charset="-79"/>
                <a:cs typeface="David" panose="020E0502060401010101" pitchFamily="34" charset="-79"/>
              </a:rPr>
              <a:t>הַר־שֵׂעִ֑יר</a:t>
            </a:r>
            <a:r>
              <a:rPr lang="he-IL" sz="2800" dirty="0">
                <a:solidFill>
                  <a:srgbClr val="000000"/>
                </a:solidFill>
                <a:latin typeface="David" panose="020E0502060401010101" pitchFamily="34" charset="-79"/>
                <a:cs typeface="David" panose="020E0502060401010101" pitchFamily="34" charset="-79"/>
              </a:rPr>
              <a:t> עַ֖ד קָדֵ֥שׁ בַּרְנֵֽעַ׃ </a:t>
            </a:r>
          </a:p>
          <a:p>
            <a:pPr algn="r"/>
            <a:r>
              <a:rPr lang="he-IL" sz="2800" b="1" dirty="0">
                <a:solidFill>
                  <a:srgbClr val="000000"/>
                </a:solidFill>
                <a:latin typeface="David" panose="020E0502060401010101" pitchFamily="34" charset="-79"/>
                <a:cs typeface="David" panose="020E0502060401010101" pitchFamily="34" charset="-79"/>
              </a:rPr>
              <a:t>ג</a:t>
            </a:r>
            <a:r>
              <a:rPr lang="he-IL" sz="2800" dirty="0">
                <a:solidFill>
                  <a:srgbClr val="000000"/>
                </a:solidFill>
                <a:latin typeface="David" panose="020E0502060401010101" pitchFamily="34" charset="-79"/>
                <a:cs typeface="David" panose="020E0502060401010101" pitchFamily="34" charset="-79"/>
              </a:rPr>
              <a:t> </a:t>
            </a:r>
            <a:r>
              <a:rPr lang="he-IL" sz="2800" b="1" dirty="0">
                <a:solidFill>
                  <a:srgbClr val="000000"/>
                </a:solidFill>
                <a:highlight>
                  <a:srgbClr val="FFFF00"/>
                </a:highlight>
                <a:latin typeface="David" panose="020E0502060401010101" pitchFamily="34" charset="-79"/>
                <a:cs typeface="David" panose="020E0502060401010101" pitchFamily="34" charset="-79"/>
              </a:rPr>
              <a:t>וַֽיְהִי֙ בְּאַרְבָּעִ֣ים שָׁנָ֔ה </a:t>
            </a:r>
            <a:r>
              <a:rPr lang="he-IL" sz="2800" b="1" dirty="0" err="1">
                <a:solidFill>
                  <a:srgbClr val="000000"/>
                </a:solidFill>
                <a:highlight>
                  <a:srgbClr val="FFFF00"/>
                </a:highlight>
                <a:latin typeface="David" panose="020E0502060401010101" pitchFamily="34" charset="-79"/>
                <a:cs typeface="David" panose="020E0502060401010101" pitchFamily="34" charset="-79"/>
              </a:rPr>
              <a:t>בְּעַשְׁתֵּֽי־עָשָׂ֥ר</a:t>
            </a:r>
            <a:r>
              <a:rPr lang="he-IL" sz="2800" b="1" dirty="0">
                <a:solidFill>
                  <a:srgbClr val="000000"/>
                </a:solidFill>
                <a:highlight>
                  <a:srgbClr val="FFFF00"/>
                </a:highlight>
                <a:latin typeface="David" panose="020E0502060401010101" pitchFamily="34" charset="-79"/>
                <a:cs typeface="David" panose="020E0502060401010101" pitchFamily="34" charset="-79"/>
              </a:rPr>
              <a:t> חֹ֖דֶשׁ בְּאֶחָ֣ד לַחֹ֑דֶשׁ </a:t>
            </a:r>
            <a:r>
              <a:rPr lang="he-IL" sz="2800" dirty="0">
                <a:solidFill>
                  <a:srgbClr val="000000"/>
                </a:solidFill>
                <a:latin typeface="David" panose="020E0502060401010101" pitchFamily="34" charset="-79"/>
                <a:cs typeface="David" panose="020E0502060401010101" pitchFamily="34" charset="-79"/>
              </a:rPr>
              <a:t>דִּבֶּ֤ר מֹשֶׁה֙ אֶל־בְּנֵ֣י יִשְׂרָאֵ֔ל כְּ֠כֹל אֲשֶׁ֨ר </a:t>
            </a:r>
            <a:r>
              <a:rPr lang="he-IL" sz="2800" dirty="0" err="1">
                <a:solidFill>
                  <a:srgbClr val="000000"/>
                </a:solidFill>
                <a:latin typeface="David" panose="020E0502060401010101" pitchFamily="34" charset="-79"/>
                <a:cs typeface="David" panose="020E0502060401010101" pitchFamily="34" charset="-79"/>
              </a:rPr>
              <a:t>צִוָּ֧ה</a:t>
            </a:r>
            <a:r>
              <a:rPr lang="he-IL" sz="2800" dirty="0">
                <a:solidFill>
                  <a:srgbClr val="000000"/>
                </a:solidFill>
                <a:latin typeface="David" panose="020E0502060401010101" pitchFamily="34" charset="-79"/>
                <a:cs typeface="David" panose="020E0502060401010101" pitchFamily="34" charset="-79"/>
              </a:rPr>
              <a:t> יְהוָ֛ה אֹת֖וֹ </a:t>
            </a:r>
            <a:r>
              <a:rPr lang="he-IL" sz="2800" dirty="0" err="1">
                <a:solidFill>
                  <a:srgbClr val="000000"/>
                </a:solidFill>
                <a:latin typeface="David" panose="020E0502060401010101" pitchFamily="34" charset="-79"/>
                <a:cs typeface="David" panose="020E0502060401010101" pitchFamily="34" charset="-79"/>
              </a:rPr>
              <a:t>אֲלֵהֶֽם</a:t>
            </a:r>
            <a:r>
              <a:rPr lang="he-IL" sz="2800" dirty="0">
                <a:solidFill>
                  <a:srgbClr val="000000"/>
                </a:solidFill>
                <a:latin typeface="David" panose="020E0502060401010101" pitchFamily="34" charset="-79"/>
                <a:cs typeface="David" panose="020E0502060401010101" pitchFamily="34" charset="-79"/>
              </a:rPr>
              <a:t>׃ </a:t>
            </a:r>
          </a:p>
        </p:txBody>
      </p:sp>
      <p:sp>
        <p:nvSpPr>
          <p:cNvPr id="4" name="TextBox 3">
            <a:extLst>
              <a:ext uri="{FF2B5EF4-FFF2-40B4-BE49-F238E27FC236}">
                <a16:creationId xmlns:a16="http://schemas.microsoft.com/office/drawing/2014/main" id="{EEF65633-B214-46C2-B997-02313D9EBB24}"/>
              </a:ext>
            </a:extLst>
          </p:cNvPr>
          <p:cNvSpPr txBox="1"/>
          <p:nvPr/>
        </p:nvSpPr>
        <p:spPr>
          <a:xfrm>
            <a:off x="198330" y="152473"/>
            <a:ext cx="6275540" cy="3416320"/>
          </a:xfrm>
          <a:prstGeom prst="rect">
            <a:avLst/>
          </a:prstGeom>
          <a:solidFill>
            <a:schemeClr val="accent6">
              <a:lumMod val="40000"/>
              <a:lumOff val="60000"/>
            </a:schemeClr>
          </a:solidFill>
          <a:ln w="28575">
            <a:solidFill>
              <a:schemeClr val="tx1"/>
            </a:solidFill>
          </a:ln>
        </p:spPr>
        <p:txBody>
          <a:bodyPr wrap="square" rtlCol="1">
            <a:spAutoFit/>
          </a:bodyPr>
          <a:lstStyle/>
          <a:p>
            <a:pPr algn="r"/>
            <a:r>
              <a:rPr lang="he-IL" sz="2400" b="1" u="sng" dirty="0">
                <a:latin typeface="David" panose="020E0502060401010101" pitchFamily="34" charset="-79"/>
                <a:cs typeface="David" panose="020E0502060401010101" pitchFamily="34" charset="-79"/>
              </a:rPr>
              <a:t>ב</a:t>
            </a:r>
            <a:r>
              <a:rPr lang="he-IL" sz="2400" b="1" dirty="0">
                <a:latin typeface="David" panose="020E0502060401010101" pitchFamily="34" charset="-79"/>
                <a:cs typeface="David" panose="020E0502060401010101" pitchFamily="34" charset="-79"/>
              </a:rPr>
              <a:t>. </a:t>
            </a:r>
            <a:r>
              <a:rPr lang="he-IL" sz="2400" dirty="0">
                <a:latin typeface="David" panose="020E0502060401010101" pitchFamily="34" charset="-79"/>
                <a:cs typeface="David" panose="020E0502060401010101" pitchFamily="34" charset="-79"/>
              </a:rPr>
              <a:t>הדרך מהר סיני לקדש ברנע שנמצאת בארץ ישראל דרך הר שעיר היא </a:t>
            </a:r>
            <a:r>
              <a:rPr lang="he-IL" sz="2400" b="1" u="sng" dirty="0">
                <a:latin typeface="David" panose="020E0502060401010101" pitchFamily="34" charset="-79"/>
                <a:cs typeface="David" panose="020E0502060401010101" pitchFamily="34" charset="-79"/>
              </a:rPr>
              <a:t>מהלך הליכה של 11 ימים ואילו בני ישראל הלכו אותה במשך 3 ימים בלבד</a:t>
            </a:r>
            <a:r>
              <a:rPr lang="he-IL" sz="2400" dirty="0">
                <a:latin typeface="David" panose="020E0502060401010101" pitchFamily="34" charset="-79"/>
                <a:cs typeface="David" panose="020E0502060401010101" pitchFamily="34" charset="-79"/>
              </a:rPr>
              <a:t>, והשכינה מהרה להכניסכם לארץ, אבל בגלל שחטאתם (במרגלים) סיבב אתכם מסביב להר שעיר 40 שנה. </a:t>
            </a:r>
          </a:p>
          <a:p>
            <a:pPr algn="r"/>
            <a:r>
              <a:rPr lang="he-IL" sz="2400" b="1" u="sng" dirty="0">
                <a:latin typeface="David" panose="020E0502060401010101" pitchFamily="34" charset="-79"/>
                <a:cs typeface="David" panose="020E0502060401010101" pitchFamily="34" charset="-79"/>
              </a:rPr>
              <a:t>ג</a:t>
            </a:r>
            <a:r>
              <a:rPr lang="he-IL" sz="2400" dirty="0">
                <a:latin typeface="David" panose="020E0502060401010101" pitchFamily="34" charset="-79"/>
                <a:cs typeface="David" panose="020E0502060401010101" pitchFamily="34" charset="-79"/>
              </a:rPr>
              <a:t>. דברים אלו שדיבר משה היו בשנת הארבעים  לצאת בני ישראל ממצרים וזה היה בתאריך א' בחודש שבט.  והוא אמר אז לבני ישראל את הדברים שאלוקים צווה אותו.  </a:t>
            </a:r>
            <a:endParaRPr lang="he-IL" sz="2800" dirty="0">
              <a:latin typeface="David" panose="020E0502060401010101" pitchFamily="34" charset="-79"/>
              <a:cs typeface="David" panose="020E0502060401010101" pitchFamily="34" charset="-79"/>
            </a:endParaRPr>
          </a:p>
        </p:txBody>
      </p:sp>
      <p:pic>
        <p:nvPicPr>
          <p:cNvPr id="1026" name="Picture 2" descr="הר שעיר הוא אדום - פורום אוצר החכמה">
            <a:extLst>
              <a:ext uri="{FF2B5EF4-FFF2-40B4-BE49-F238E27FC236}">
                <a16:creationId xmlns:a16="http://schemas.microsoft.com/office/drawing/2014/main" id="{58D86542-2316-4B65-B968-E55CC65F4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690" y="2790325"/>
            <a:ext cx="5452998" cy="394867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מחבר חץ ישר 4">
            <a:extLst>
              <a:ext uri="{FF2B5EF4-FFF2-40B4-BE49-F238E27FC236}">
                <a16:creationId xmlns:a16="http://schemas.microsoft.com/office/drawing/2014/main" id="{04D1E7BB-A3DC-4A1E-8BFE-A562B16BCEB9}"/>
              </a:ext>
            </a:extLst>
          </p:cNvPr>
          <p:cNvCxnSpPr/>
          <p:nvPr/>
        </p:nvCxnSpPr>
        <p:spPr>
          <a:xfrm>
            <a:off x="8855901" y="764088"/>
            <a:ext cx="350729" cy="3607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מלבן 5">
            <a:extLst>
              <a:ext uri="{FF2B5EF4-FFF2-40B4-BE49-F238E27FC236}">
                <a16:creationId xmlns:a16="http://schemas.microsoft.com/office/drawing/2014/main" id="{D9170DC0-D2F5-4ED7-8C2D-2D6DEBB0B3F4}"/>
              </a:ext>
            </a:extLst>
          </p:cNvPr>
          <p:cNvSpPr/>
          <p:nvPr/>
        </p:nvSpPr>
        <p:spPr>
          <a:xfrm>
            <a:off x="-9393" y="3687901"/>
            <a:ext cx="6540673" cy="3170099"/>
          </a:xfrm>
          <a:prstGeom prst="rect">
            <a:avLst/>
          </a:prstGeom>
          <a:solidFill>
            <a:schemeClr val="accent5">
              <a:lumMod val="40000"/>
              <a:lumOff val="60000"/>
            </a:schemeClr>
          </a:solidFill>
        </p:spPr>
        <p:txBody>
          <a:bodyPr wrap="square">
            <a:spAutoFit/>
          </a:bodyPr>
          <a:lstStyle/>
          <a:p>
            <a:pPr algn="r"/>
            <a:r>
              <a:rPr lang="he-IL" sz="2000" b="1" u="sng" dirty="0">
                <a:solidFill>
                  <a:srgbClr val="202122"/>
                </a:solidFill>
                <a:latin typeface="David" panose="020E0502060401010101" pitchFamily="34" charset="-79"/>
                <a:cs typeface="David" panose="020E0502060401010101" pitchFamily="34" charset="-79"/>
              </a:rPr>
              <a:t>רש"י על הפסוק:</a:t>
            </a:r>
          </a:p>
          <a:p>
            <a:pPr algn="r"/>
            <a:r>
              <a:rPr lang="he-IL" sz="2000" dirty="0">
                <a:solidFill>
                  <a:srgbClr val="202122"/>
                </a:solidFill>
                <a:latin typeface="David" panose="020E0502060401010101" pitchFamily="34" charset="-79"/>
                <a:cs typeface="David" panose="020E0502060401010101" pitchFamily="34" charset="-79"/>
              </a:rPr>
              <a:t>"</a:t>
            </a:r>
            <a:r>
              <a:rPr lang="he-IL" sz="2000" dirty="0">
                <a:solidFill>
                  <a:srgbClr val="111155"/>
                </a:solidFill>
                <a:latin typeface="David" panose="020E0502060401010101" pitchFamily="34" charset="-79"/>
                <a:cs typeface="David" panose="020E0502060401010101" pitchFamily="34" charset="-79"/>
              </a:rPr>
              <a:t>ויהי בארבעים שנה בעשתי עשר חדש באחד לחדש</a:t>
            </a:r>
            <a:r>
              <a:rPr lang="he-IL" sz="2000" dirty="0">
                <a:solidFill>
                  <a:srgbClr val="202122"/>
                </a:solidFill>
                <a:latin typeface="David" panose="020E0502060401010101" pitchFamily="34" charset="-79"/>
                <a:cs typeface="David" panose="020E0502060401010101" pitchFamily="34" charset="-79"/>
              </a:rPr>
              <a:t>" - </a:t>
            </a:r>
            <a:r>
              <a:rPr lang="he-IL" sz="2000" b="1" dirty="0">
                <a:solidFill>
                  <a:srgbClr val="202122"/>
                </a:solidFill>
                <a:highlight>
                  <a:srgbClr val="FFFF00"/>
                </a:highlight>
                <a:latin typeface="David" panose="020E0502060401010101" pitchFamily="34" charset="-79"/>
                <a:cs typeface="David" panose="020E0502060401010101" pitchFamily="34" charset="-79"/>
              </a:rPr>
              <a:t>מלמד שלא </a:t>
            </a:r>
            <a:r>
              <a:rPr lang="he-IL" sz="2000" b="1" dirty="0" err="1">
                <a:solidFill>
                  <a:srgbClr val="202122"/>
                </a:solidFill>
                <a:highlight>
                  <a:srgbClr val="FFFF00"/>
                </a:highlight>
                <a:latin typeface="David" panose="020E0502060401010101" pitchFamily="34" charset="-79"/>
                <a:cs typeface="David" panose="020E0502060401010101" pitchFamily="34" charset="-79"/>
              </a:rPr>
              <a:t>הוכיחן</a:t>
            </a:r>
            <a:r>
              <a:rPr lang="he-IL" sz="2000" b="1" dirty="0">
                <a:solidFill>
                  <a:srgbClr val="202122"/>
                </a:solidFill>
                <a:highlight>
                  <a:srgbClr val="FFFF00"/>
                </a:highlight>
                <a:latin typeface="David" panose="020E0502060401010101" pitchFamily="34" charset="-79"/>
                <a:cs typeface="David" panose="020E0502060401010101" pitchFamily="34" charset="-79"/>
              </a:rPr>
              <a:t> אלא סמוך למיתה ממי למד מיעקב</a:t>
            </a:r>
            <a:r>
              <a:rPr lang="he-IL" sz="2000" dirty="0">
                <a:solidFill>
                  <a:srgbClr val="202122"/>
                </a:solidFill>
                <a:latin typeface="David" panose="020E0502060401010101" pitchFamily="34" charset="-79"/>
                <a:cs typeface="David" panose="020E0502060401010101" pitchFamily="34" charset="-79"/>
              </a:rPr>
              <a:t> שלא הוכיח את בניו אלא סמוך למיתה .....</a:t>
            </a:r>
          </a:p>
          <a:p>
            <a:pPr algn="r"/>
            <a:r>
              <a:rPr lang="he-IL" sz="2000" b="1" dirty="0">
                <a:solidFill>
                  <a:srgbClr val="202122"/>
                </a:solidFill>
                <a:highlight>
                  <a:srgbClr val="FFFF00"/>
                </a:highlight>
                <a:latin typeface="David" panose="020E0502060401010101" pitchFamily="34" charset="-79"/>
                <a:cs typeface="David" panose="020E0502060401010101" pitchFamily="34" charset="-79"/>
              </a:rPr>
              <a:t>ומפני ד' דברים אין </a:t>
            </a:r>
            <a:r>
              <a:rPr lang="he-IL" sz="2000" b="1" dirty="0" err="1">
                <a:solidFill>
                  <a:srgbClr val="202122"/>
                </a:solidFill>
                <a:highlight>
                  <a:srgbClr val="FFFF00"/>
                </a:highlight>
                <a:latin typeface="David" panose="020E0502060401010101" pitchFamily="34" charset="-79"/>
                <a:cs typeface="David" panose="020E0502060401010101" pitchFamily="34" charset="-79"/>
              </a:rPr>
              <a:t>מוכיחין</a:t>
            </a:r>
            <a:r>
              <a:rPr lang="he-IL" sz="2000" b="1" dirty="0">
                <a:solidFill>
                  <a:srgbClr val="202122"/>
                </a:solidFill>
                <a:highlight>
                  <a:srgbClr val="FFFF00"/>
                </a:highlight>
                <a:latin typeface="David" panose="020E0502060401010101" pitchFamily="34" charset="-79"/>
                <a:cs typeface="David" panose="020E0502060401010101" pitchFamily="34" charset="-79"/>
              </a:rPr>
              <a:t> את האדם אלא סמוך למיתה </a:t>
            </a:r>
            <a:r>
              <a:rPr lang="he-IL" sz="2000" dirty="0">
                <a:solidFill>
                  <a:srgbClr val="202122"/>
                </a:solidFill>
                <a:latin typeface="David" panose="020E0502060401010101" pitchFamily="34" charset="-79"/>
                <a:cs typeface="David" panose="020E0502060401010101" pitchFamily="34" charset="-79"/>
              </a:rPr>
              <a:t>כדי שלא יהא </a:t>
            </a:r>
            <a:r>
              <a:rPr lang="he-IL" sz="2000" dirty="0" err="1">
                <a:solidFill>
                  <a:srgbClr val="202122"/>
                </a:solidFill>
                <a:latin typeface="David" panose="020E0502060401010101" pitchFamily="34" charset="-79"/>
                <a:cs typeface="David" panose="020E0502060401010101" pitchFamily="34" charset="-79"/>
              </a:rPr>
              <a:t>מוכיחו</a:t>
            </a:r>
            <a:r>
              <a:rPr lang="he-IL" sz="2000" dirty="0">
                <a:solidFill>
                  <a:srgbClr val="202122"/>
                </a:solidFill>
                <a:latin typeface="David" panose="020E0502060401010101" pitchFamily="34" charset="-79"/>
                <a:cs typeface="David" panose="020E0502060401010101" pitchFamily="34" charset="-79"/>
              </a:rPr>
              <a:t> וחוזר </a:t>
            </a:r>
            <a:r>
              <a:rPr lang="he-IL" sz="2000" dirty="0" err="1">
                <a:solidFill>
                  <a:srgbClr val="202122"/>
                </a:solidFill>
                <a:latin typeface="David" panose="020E0502060401010101" pitchFamily="34" charset="-79"/>
                <a:cs typeface="David" panose="020E0502060401010101" pitchFamily="34" charset="-79"/>
              </a:rPr>
              <a:t>ומוכיחו</a:t>
            </a:r>
            <a:r>
              <a:rPr lang="he-IL" sz="2000" dirty="0">
                <a:solidFill>
                  <a:srgbClr val="202122"/>
                </a:solidFill>
                <a:latin typeface="David" panose="020E0502060401010101" pitchFamily="34" charset="-79"/>
                <a:cs typeface="David" panose="020E0502060401010101" pitchFamily="34" charset="-79"/>
              </a:rPr>
              <a:t> ושלא יהא </a:t>
            </a:r>
            <a:r>
              <a:rPr lang="he-IL" sz="2000" dirty="0" err="1">
                <a:solidFill>
                  <a:srgbClr val="202122"/>
                </a:solidFill>
                <a:latin typeface="David" panose="020E0502060401010101" pitchFamily="34" charset="-79"/>
                <a:cs typeface="David" panose="020E0502060401010101" pitchFamily="34" charset="-79"/>
              </a:rPr>
              <a:t>חבירו</a:t>
            </a:r>
            <a:r>
              <a:rPr lang="he-IL" sz="2000" dirty="0">
                <a:solidFill>
                  <a:srgbClr val="202122"/>
                </a:solidFill>
                <a:latin typeface="David" panose="020E0502060401010101" pitchFamily="34" charset="-79"/>
                <a:cs typeface="David" panose="020E0502060401010101" pitchFamily="34" charset="-79"/>
              </a:rPr>
              <a:t> רואהו ומתבייש ממנו </a:t>
            </a:r>
            <a:r>
              <a:rPr lang="he-IL" sz="2000" dirty="0" err="1">
                <a:solidFill>
                  <a:srgbClr val="202122"/>
                </a:solidFill>
                <a:latin typeface="David" panose="020E0502060401010101" pitchFamily="34" charset="-79"/>
                <a:cs typeface="David" panose="020E0502060401010101" pitchFamily="34" charset="-79"/>
              </a:rPr>
              <a:t>וכו</a:t>
            </a:r>
            <a:r>
              <a:rPr lang="he-IL" sz="2000" dirty="0">
                <a:solidFill>
                  <a:srgbClr val="202122"/>
                </a:solidFill>
                <a:latin typeface="David" panose="020E0502060401010101" pitchFamily="34" charset="-79"/>
                <a:cs typeface="David" panose="020E0502060401010101" pitchFamily="34" charset="-79"/>
              </a:rPr>
              <a:t>'...</a:t>
            </a:r>
            <a:endParaRPr lang="en-US" sz="2000" dirty="0">
              <a:solidFill>
                <a:srgbClr val="202122"/>
              </a:solidFill>
              <a:latin typeface="David" panose="020E0502060401010101" pitchFamily="34" charset="-79"/>
              <a:cs typeface="David" panose="020E0502060401010101" pitchFamily="34" charset="-79"/>
            </a:endParaRPr>
          </a:p>
          <a:p>
            <a:pPr algn="r"/>
            <a:r>
              <a:rPr lang="he-IL" sz="2000" u="sng" dirty="0">
                <a:solidFill>
                  <a:srgbClr val="202122"/>
                </a:solidFill>
                <a:latin typeface="Guttman Mantova" panose="02010401010101010101" pitchFamily="2" charset="-79"/>
                <a:cs typeface="Guttman Mantova" panose="02010401010101010101" pitchFamily="2" charset="-79"/>
              </a:rPr>
              <a:t>משה למד מיעקב אבינו שהוכיח לפני מיתתו, ויש בזה טעם: שלא יצטרך </a:t>
            </a:r>
            <a:r>
              <a:rPr lang="he-IL" sz="2000" u="sng" dirty="0" err="1">
                <a:solidFill>
                  <a:srgbClr val="202122"/>
                </a:solidFill>
                <a:latin typeface="Guttman Mantova" panose="02010401010101010101" pitchFamily="2" charset="-79"/>
                <a:cs typeface="Guttman Mantova" panose="02010401010101010101" pitchFamily="2" charset="-79"/>
              </a:rPr>
              <a:t>להוכיחו</a:t>
            </a:r>
            <a:r>
              <a:rPr lang="he-IL" sz="2000" u="sng" dirty="0">
                <a:solidFill>
                  <a:srgbClr val="202122"/>
                </a:solidFill>
                <a:latin typeface="Guttman Mantova" panose="02010401010101010101" pitchFamily="2" charset="-79"/>
                <a:cs typeface="Guttman Mantova" panose="02010401010101010101" pitchFamily="2" charset="-79"/>
              </a:rPr>
              <a:t> ושוב </a:t>
            </a:r>
            <a:r>
              <a:rPr lang="he-IL" sz="2000" u="sng" dirty="0" err="1">
                <a:solidFill>
                  <a:srgbClr val="202122"/>
                </a:solidFill>
                <a:latin typeface="Guttman Mantova" panose="02010401010101010101" pitchFamily="2" charset="-79"/>
                <a:cs typeface="Guttman Mantova" panose="02010401010101010101" pitchFamily="2" charset="-79"/>
              </a:rPr>
              <a:t>להוכיחו</a:t>
            </a:r>
            <a:r>
              <a:rPr lang="he-IL" sz="2000" u="sng" dirty="0">
                <a:solidFill>
                  <a:srgbClr val="202122"/>
                </a:solidFill>
                <a:latin typeface="Guttman Mantova" panose="02010401010101010101" pitchFamily="2" charset="-79"/>
                <a:cs typeface="Guttman Mantova" panose="02010401010101010101" pitchFamily="2" charset="-79"/>
              </a:rPr>
              <a:t> לכן מוכיח פעם אחת בסמוך למיתתו. וסיבה נוספת שלא יהיה חברו מתבייש ממנו. </a:t>
            </a:r>
            <a:endParaRPr lang="he-IL" sz="2000" u="sng" dirty="0">
              <a:latin typeface="Guttman Mantova" panose="02010401010101010101" pitchFamily="2" charset="-79"/>
              <a:cs typeface="Guttman Mantova" panose="02010401010101010101" pitchFamily="2" charset="-79"/>
            </a:endParaRPr>
          </a:p>
        </p:txBody>
      </p:sp>
    </p:spTree>
    <p:extLst>
      <p:ext uri="{BB962C8B-B14F-4D97-AF65-F5344CB8AC3E}">
        <p14:creationId xmlns:p14="http://schemas.microsoft.com/office/powerpoint/2010/main" val="2134037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barn(inVertical)">
                                      <p:cBhvr>
                                        <p:cTn id="18" dur="500"/>
                                        <p:tgtEl>
                                          <p:spTgt spid="10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3131AB93-0A07-40AB-B5B4-C625292EFE59}"/>
              </a:ext>
            </a:extLst>
          </p:cNvPr>
          <p:cNvSpPr/>
          <p:nvPr/>
        </p:nvSpPr>
        <p:spPr>
          <a:xfrm>
            <a:off x="6095999" y="225962"/>
            <a:ext cx="5929299" cy="2246769"/>
          </a:xfrm>
          <a:prstGeom prst="rect">
            <a:avLst/>
          </a:prstGeom>
          <a:solidFill>
            <a:schemeClr val="accent6">
              <a:lumMod val="60000"/>
              <a:lumOff val="40000"/>
            </a:schemeClr>
          </a:solidFill>
        </p:spPr>
        <p:txBody>
          <a:bodyPr wrap="square">
            <a:spAutoFit/>
          </a:bodyPr>
          <a:lstStyle/>
          <a:p>
            <a:pPr lvl="0" algn="r"/>
            <a:r>
              <a:rPr lang="he-IL" sz="2800" b="1" dirty="0">
                <a:solidFill>
                  <a:srgbClr val="000000"/>
                </a:solidFill>
                <a:latin typeface="David" panose="020E0502060401010101" pitchFamily="34" charset="-79"/>
                <a:cs typeface="David" panose="020E0502060401010101" pitchFamily="34" charset="-79"/>
              </a:rPr>
              <a:t>ד</a:t>
            </a:r>
            <a:r>
              <a:rPr lang="he-IL" sz="2800" dirty="0">
                <a:solidFill>
                  <a:srgbClr val="000000"/>
                </a:solidFill>
                <a:latin typeface="David" panose="020E0502060401010101" pitchFamily="34" charset="-79"/>
                <a:cs typeface="David" panose="020E0502060401010101" pitchFamily="34" charset="-79"/>
              </a:rPr>
              <a:t> אַֽחֲרֵ֣י </a:t>
            </a:r>
            <a:r>
              <a:rPr lang="he-IL" sz="2800" dirty="0" err="1">
                <a:solidFill>
                  <a:srgbClr val="000000"/>
                </a:solidFill>
                <a:latin typeface="David" panose="020E0502060401010101" pitchFamily="34" charset="-79"/>
                <a:cs typeface="David" panose="020E0502060401010101" pitchFamily="34" charset="-79"/>
              </a:rPr>
              <a:t>הַכֹּת֗ו</a:t>
            </a:r>
            <a:r>
              <a:rPr lang="he-IL" sz="2800" dirty="0">
                <a:solidFill>
                  <a:srgbClr val="000000"/>
                </a:solidFill>
                <a:latin typeface="David" panose="020E0502060401010101" pitchFamily="34" charset="-79"/>
                <a:cs typeface="David" panose="020E0502060401010101" pitchFamily="34" charset="-79"/>
              </a:rPr>
              <a:t>ֹ אֵ֚ת </a:t>
            </a:r>
            <a:r>
              <a:rPr lang="he-IL" sz="2800" b="1" dirty="0" err="1">
                <a:solidFill>
                  <a:srgbClr val="000000"/>
                </a:solidFill>
                <a:highlight>
                  <a:srgbClr val="FFFF00"/>
                </a:highlight>
                <a:latin typeface="David" panose="020E0502060401010101" pitchFamily="34" charset="-79"/>
                <a:cs typeface="David" panose="020E0502060401010101" pitchFamily="34" charset="-79"/>
              </a:rPr>
              <a:t>סִיחֹן</a:t>
            </a:r>
            <a:r>
              <a:rPr lang="he-IL" sz="2800" b="1" dirty="0">
                <a:solidFill>
                  <a:srgbClr val="000000"/>
                </a:solidFill>
                <a:highlight>
                  <a:srgbClr val="FFFF00"/>
                </a:highlight>
                <a:latin typeface="David" panose="020E0502060401010101" pitchFamily="34" charset="-79"/>
                <a:cs typeface="David" panose="020E0502060401010101" pitchFamily="34" charset="-79"/>
              </a:rPr>
              <a:t>֙ מֶ֣לֶךְ </a:t>
            </a:r>
            <a:r>
              <a:rPr lang="he-IL" sz="2800" b="1" dirty="0" err="1">
                <a:solidFill>
                  <a:srgbClr val="000000"/>
                </a:solidFill>
                <a:highlight>
                  <a:srgbClr val="FFFF00"/>
                </a:highlight>
                <a:latin typeface="David" panose="020E0502060401010101" pitchFamily="34" charset="-79"/>
                <a:cs typeface="David" panose="020E0502060401010101" pitchFamily="34" charset="-79"/>
              </a:rPr>
              <a:t>הָֽאֱמֹרִ֔י</a:t>
            </a:r>
            <a:r>
              <a:rPr lang="he-IL" sz="2800" b="1" dirty="0">
                <a:solidFill>
                  <a:srgbClr val="000000"/>
                </a:solidFill>
                <a:highlight>
                  <a:srgbClr val="FFFF00"/>
                </a:highlight>
                <a:latin typeface="David" panose="020E0502060401010101" pitchFamily="34" charset="-79"/>
                <a:cs typeface="David" panose="020E0502060401010101" pitchFamily="34" charset="-79"/>
              </a:rPr>
              <a:t> </a:t>
            </a:r>
            <a:r>
              <a:rPr lang="he-IL" sz="2800" dirty="0">
                <a:solidFill>
                  <a:srgbClr val="000000"/>
                </a:solidFill>
                <a:latin typeface="David" panose="020E0502060401010101" pitchFamily="34" charset="-79"/>
                <a:cs typeface="David" panose="020E0502060401010101" pitchFamily="34" charset="-79"/>
              </a:rPr>
              <a:t>אֲשֶׁ֥ר יוֹשֵׁ֖ב בְּחֶשְׁבּ֑וֹן </a:t>
            </a:r>
            <a:r>
              <a:rPr lang="he-IL" sz="2800" b="1" dirty="0">
                <a:solidFill>
                  <a:srgbClr val="000000"/>
                </a:solidFill>
                <a:highlight>
                  <a:srgbClr val="FFFF00"/>
                </a:highlight>
                <a:latin typeface="David" panose="020E0502060401010101" pitchFamily="34" charset="-79"/>
                <a:cs typeface="David" panose="020E0502060401010101" pitchFamily="34" charset="-79"/>
              </a:rPr>
              <a:t>וְאֵ֗ת ע֚וֹג מֶ֣לֶךְ הַבָּשָׁ֔ן </a:t>
            </a:r>
            <a:r>
              <a:rPr lang="he-IL" sz="2800" dirty="0" err="1">
                <a:solidFill>
                  <a:srgbClr val="000000"/>
                </a:solidFill>
                <a:latin typeface="David" panose="020E0502060401010101" pitchFamily="34" charset="-79"/>
                <a:cs typeface="David" panose="020E0502060401010101" pitchFamily="34" charset="-79"/>
              </a:rPr>
              <a:t>אֲשֶׁר־יוֹשֵׁ֥ב</a:t>
            </a:r>
            <a:r>
              <a:rPr lang="he-IL" sz="2800" dirty="0">
                <a:solidFill>
                  <a:srgbClr val="000000"/>
                </a:solidFill>
                <a:latin typeface="David" panose="020E0502060401010101" pitchFamily="34" charset="-79"/>
                <a:cs typeface="David" panose="020E0502060401010101" pitchFamily="34" charset="-79"/>
              </a:rPr>
              <a:t> </a:t>
            </a:r>
            <a:r>
              <a:rPr lang="he-IL" sz="2800" dirty="0" err="1">
                <a:solidFill>
                  <a:srgbClr val="000000"/>
                </a:solidFill>
                <a:latin typeface="David" panose="020E0502060401010101" pitchFamily="34" charset="-79"/>
                <a:cs typeface="David" panose="020E0502060401010101" pitchFamily="34" charset="-79"/>
              </a:rPr>
              <a:t>בְּעַשְׁתָּרֹ֖ת</a:t>
            </a:r>
            <a:r>
              <a:rPr lang="he-IL" sz="2800" dirty="0">
                <a:solidFill>
                  <a:srgbClr val="000000"/>
                </a:solidFill>
                <a:latin typeface="David" panose="020E0502060401010101" pitchFamily="34" charset="-79"/>
                <a:cs typeface="David" panose="020E0502060401010101" pitchFamily="34" charset="-79"/>
              </a:rPr>
              <a:t> </a:t>
            </a:r>
            <a:r>
              <a:rPr lang="he-IL" sz="2800" dirty="0" err="1">
                <a:solidFill>
                  <a:srgbClr val="000000"/>
                </a:solidFill>
                <a:latin typeface="David" panose="020E0502060401010101" pitchFamily="34" charset="-79"/>
                <a:cs typeface="David" panose="020E0502060401010101" pitchFamily="34" charset="-79"/>
              </a:rPr>
              <a:t>בְּאֶדְרֶֽעִי</a:t>
            </a:r>
            <a:r>
              <a:rPr lang="he-IL" sz="2800" dirty="0">
                <a:solidFill>
                  <a:srgbClr val="000000"/>
                </a:solidFill>
                <a:latin typeface="David" panose="020E0502060401010101" pitchFamily="34" charset="-79"/>
                <a:cs typeface="David" panose="020E0502060401010101" pitchFamily="34" charset="-79"/>
              </a:rPr>
              <a:t>׃ </a:t>
            </a:r>
          </a:p>
          <a:p>
            <a:pPr lvl="0" algn="r"/>
            <a:r>
              <a:rPr lang="he-IL" sz="2800" b="1" dirty="0">
                <a:solidFill>
                  <a:srgbClr val="000000"/>
                </a:solidFill>
                <a:latin typeface="David" panose="020E0502060401010101" pitchFamily="34" charset="-79"/>
                <a:cs typeface="David" panose="020E0502060401010101" pitchFamily="34" charset="-79"/>
              </a:rPr>
              <a:t>ה</a:t>
            </a:r>
            <a:r>
              <a:rPr lang="he-IL" sz="2800" dirty="0">
                <a:solidFill>
                  <a:srgbClr val="000000"/>
                </a:solidFill>
                <a:latin typeface="David" panose="020E0502060401010101" pitchFamily="34" charset="-79"/>
                <a:cs typeface="David" panose="020E0502060401010101" pitchFamily="34" charset="-79"/>
              </a:rPr>
              <a:t> בְּעֵ֥בֶר הַיַּרְדֵּ֖ן בְּאֶ֣רֶץ מוֹאָ֑ב הוֹאִ֣יל מֹשֶׁ֔ה בֵּאֵ֛ר </a:t>
            </a:r>
            <a:r>
              <a:rPr lang="he-IL" sz="2800" dirty="0" err="1">
                <a:solidFill>
                  <a:srgbClr val="000000"/>
                </a:solidFill>
                <a:latin typeface="David" panose="020E0502060401010101" pitchFamily="34" charset="-79"/>
                <a:cs typeface="David" panose="020E0502060401010101" pitchFamily="34" charset="-79"/>
              </a:rPr>
              <a:t>אֶת־הַתּוֹרָ֥ה</a:t>
            </a:r>
            <a:r>
              <a:rPr lang="he-IL" sz="2800" dirty="0">
                <a:solidFill>
                  <a:srgbClr val="000000"/>
                </a:solidFill>
                <a:latin typeface="David" panose="020E0502060401010101" pitchFamily="34" charset="-79"/>
                <a:cs typeface="David" panose="020E0502060401010101" pitchFamily="34" charset="-79"/>
              </a:rPr>
              <a:t> הַזֹּ֖את </a:t>
            </a:r>
            <a:r>
              <a:rPr lang="he-IL" sz="2800" dirty="0" err="1">
                <a:solidFill>
                  <a:srgbClr val="000000"/>
                </a:solidFill>
                <a:latin typeface="David" panose="020E0502060401010101" pitchFamily="34" charset="-79"/>
                <a:cs typeface="David" panose="020E0502060401010101" pitchFamily="34" charset="-79"/>
              </a:rPr>
              <a:t>לֵאמֹֽר</a:t>
            </a:r>
            <a:r>
              <a:rPr lang="he-IL" sz="2800" dirty="0">
                <a:solidFill>
                  <a:srgbClr val="000000"/>
                </a:solidFill>
                <a:latin typeface="David" panose="020E0502060401010101" pitchFamily="34" charset="-79"/>
                <a:cs typeface="David" panose="020E0502060401010101" pitchFamily="34" charset="-79"/>
              </a:rPr>
              <a:t>׃</a:t>
            </a:r>
            <a:endParaRPr lang="he-IL" sz="2800" dirty="0">
              <a:solidFill>
                <a:prstClr val="black"/>
              </a:solidFill>
              <a:latin typeface="David" panose="020E0502060401010101" pitchFamily="34" charset="-79"/>
              <a:cs typeface="David" panose="020E0502060401010101" pitchFamily="34" charset="-79"/>
            </a:endParaRPr>
          </a:p>
        </p:txBody>
      </p:sp>
      <p:sp>
        <p:nvSpPr>
          <p:cNvPr id="3" name="TextBox 2">
            <a:extLst>
              <a:ext uri="{FF2B5EF4-FFF2-40B4-BE49-F238E27FC236}">
                <a16:creationId xmlns:a16="http://schemas.microsoft.com/office/drawing/2014/main" id="{5F88B8C9-5D38-4EA6-BD61-3AAF7635547B}"/>
              </a:ext>
            </a:extLst>
          </p:cNvPr>
          <p:cNvSpPr txBox="1"/>
          <p:nvPr/>
        </p:nvSpPr>
        <p:spPr>
          <a:xfrm>
            <a:off x="166702" y="225962"/>
            <a:ext cx="5816565" cy="4176236"/>
          </a:xfrm>
          <a:prstGeom prst="verticalScroll">
            <a:avLst/>
          </a:prstGeom>
          <a:solidFill>
            <a:schemeClr val="accent4">
              <a:lumMod val="60000"/>
              <a:lumOff val="40000"/>
            </a:schemeClr>
          </a:solidFill>
          <a:ln w="28575">
            <a:solidFill>
              <a:schemeClr val="tx1"/>
            </a:solidFill>
          </a:ln>
        </p:spPr>
        <p:txBody>
          <a:bodyPr wrap="square" rtlCol="1">
            <a:spAutoFit/>
          </a:bodyPr>
          <a:lstStyle/>
          <a:p>
            <a:pPr algn="r"/>
            <a:r>
              <a:rPr lang="he-IL" sz="2400" dirty="0">
                <a:latin typeface="David" panose="020E0502060401010101" pitchFamily="34" charset="-79"/>
                <a:cs typeface="David" panose="020E0502060401010101" pitchFamily="34" charset="-79"/>
              </a:rPr>
              <a:t>ד. וזה היה אחרי שניצח את </a:t>
            </a:r>
            <a:r>
              <a:rPr lang="he-IL" sz="2400" dirty="0" err="1">
                <a:latin typeface="David" panose="020E0502060401010101" pitchFamily="34" charset="-79"/>
                <a:cs typeface="David" panose="020E0502060401010101" pitchFamily="34" charset="-79"/>
              </a:rPr>
              <a:t>סיחון</a:t>
            </a:r>
            <a:r>
              <a:rPr lang="he-IL" sz="2400" dirty="0">
                <a:latin typeface="David" panose="020E0502060401010101" pitchFamily="34" charset="-79"/>
                <a:cs typeface="David" panose="020E0502060401010101" pitchFamily="34" charset="-79"/>
              </a:rPr>
              <a:t> מלך האמורי שעיר הבירה שלו "חשבון" וניצח את עוג מלך הבשן  שהיה גר </a:t>
            </a:r>
            <a:r>
              <a:rPr lang="he-IL" sz="2400" dirty="0" err="1">
                <a:latin typeface="David" panose="020E0502060401010101" pitchFamily="34" charset="-79"/>
                <a:cs typeface="David" panose="020E0502060401010101" pitchFamily="34" charset="-79"/>
              </a:rPr>
              <a:t>בעשתרות</a:t>
            </a:r>
            <a:r>
              <a:rPr lang="he-IL" sz="2400" dirty="0">
                <a:latin typeface="David" panose="020E0502060401010101" pitchFamily="34" charset="-79"/>
                <a:cs typeface="David" panose="020E0502060401010101" pitchFamily="34" charset="-79"/>
              </a:rPr>
              <a:t> בארץ ששמה </a:t>
            </a:r>
            <a:r>
              <a:rPr lang="he-IL" sz="2400" dirty="0" err="1">
                <a:latin typeface="David" panose="020E0502060401010101" pitchFamily="34" charset="-79"/>
                <a:cs typeface="David" panose="020E0502060401010101" pitchFamily="34" charset="-79"/>
              </a:rPr>
              <a:t>אדרעי</a:t>
            </a:r>
            <a:r>
              <a:rPr lang="he-IL" sz="2400" dirty="0">
                <a:latin typeface="David" panose="020E0502060401010101" pitchFamily="34" charset="-79"/>
                <a:cs typeface="David" panose="020E0502060401010101" pitchFamily="34" charset="-79"/>
              </a:rPr>
              <a:t>.</a:t>
            </a:r>
          </a:p>
          <a:p>
            <a:pPr algn="r"/>
            <a:r>
              <a:rPr lang="he-IL" sz="2400" dirty="0">
                <a:latin typeface="David" panose="020E0502060401010101" pitchFamily="34" charset="-79"/>
                <a:cs typeface="David" panose="020E0502060401010101" pitchFamily="34" charset="-79"/>
              </a:rPr>
              <a:t>ה. כאשר עמדו בני ישראל בצד המזרחי של הירדן בארץ של מואב. התחיל משה לבאר את התורה בשבעים לשון (כדי שכולם יבינו בשפתם) וכך הוא אמר להם</a:t>
            </a:r>
          </a:p>
          <a:p>
            <a:pPr algn="r"/>
            <a:r>
              <a:rPr lang="he-IL" sz="2400" dirty="0">
                <a:latin typeface="David" panose="020E0502060401010101" pitchFamily="34" charset="-79"/>
                <a:cs typeface="David" panose="020E0502060401010101" pitchFamily="34" charset="-79"/>
              </a:rPr>
              <a:t> </a:t>
            </a:r>
          </a:p>
        </p:txBody>
      </p:sp>
      <p:pic>
        <p:nvPicPr>
          <p:cNvPr id="2050" name="Picture 2" descr="מליחי משה">
            <a:extLst>
              <a:ext uri="{FF2B5EF4-FFF2-40B4-BE49-F238E27FC236}">
                <a16:creationId xmlns:a16="http://schemas.microsoft.com/office/drawing/2014/main" id="{FFA78412-9A12-40C1-9AA7-9AE06723A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5172" y="2583755"/>
            <a:ext cx="3520125" cy="272888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חשבון (עיר) – ויקיפדיה">
            <a:extLst>
              <a:ext uri="{FF2B5EF4-FFF2-40B4-BE49-F238E27FC236}">
                <a16:creationId xmlns:a16="http://schemas.microsoft.com/office/drawing/2014/main" id="{33369E6E-1975-4063-9281-3A3A31A5F0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3874" y="1395985"/>
            <a:ext cx="2818356" cy="5366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76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 calcmode="lin" valueType="num">
                                      <p:cBhvr additive="base">
                                        <p:cTn id="12" dur="500" fill="hold"/>
                                        <p:tgtEl>
                                          <p:spTgt spid="2050"/>
                                        </p:tgtEl>
                                        <p:attrNameLst>
                                          <p:attrName>ppt_x</p:attrName>
                                        </p:attrNameLst>
                                      </p:cBhvr>
                                      <p:tavLst>
                                        <p:tav tm="0">
                                          <p:val>
                                            <p:strVal val="#ppt_x"/>
                                          </p:val>
                                        </p:tav>
                                        <p:tav tm="100000">
                                          <p:val>
                                            <p:strVal val="#ppt_x"/>
                                          </p:val>
                                        </p:tav>
                                      </p:tavLst>
                                    </p:anim>
                                    <p:anim calcmode="lin" valueType="num">
                                      <p:cBhvr additive="base">
                                        <p:cTn id="13"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054"/>
                                        </p:tgtEl>
                                        <p:attrNameLst>
                                          <p:attrName>style.visibility</p:attrName>
                                        </p:attrNameLst>
                                      </p:cBhvr>
                                      <p:to>
                                        <p:strVal val="visible"/>
                                      </p:to>
                                    </p:set>
                                    <p:animEffect transition="in" filter="barn(inVertical)">
                                      <p:cBhvr>
                                        <p:cTn id="18"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291019-3BD0-477B-9D71-054998E0510A}"/>
              </a:ext>
            </a:extLst>
          </p:cNvPr>
          <p:cNvSpPr txBox="1"/>
          <p:nvPr/>
        </p:nvSpPr>
        <p:spPr>
          <a:xfrm>
            <a:off x="4196218" y="197348"/>
            <a:ext cx="7622523" cy="584775"/>
          </a:xfrm>
          <a:prstGeom prst="rect">
            <a:avLst/>
          </a:prstGeom>
          <a:solidFill>
            <a:schemeClr val="accent4">
              <a:lumMod val="20000"/>
              <a:lumOff val="80000"/>
            </a:schemeClr>
          </a:solidFill>
          <a:ln w="38100">
            <a:solidFill>
              <a:schemeClr val="tx1"/>
            </a:solidFill>
          </a:ln>
        </p:spPr>
        <p:txBody>
          <a:bodyPr wrap="square" rtlCol="1">
            <a:spAutoFit/>
          </a:bodyPr>
          <a:lstStyle/>
          <a:p>
            <a:pPr algn="ctr"/>
            <a:r>
              <a:rPr lang="he-IL" sz="3200" b="1" u="sng" dirty="0">
                <a:latin typeface="David" panose="020E0502060401010101" pitchFamily="34" charset="-79"/>
                <a:cs typeface="David" panose="020E0502060401010101" pitchFamily="34" charset="-79"/>
              </a:rPr>
              <a:t>פרק א' פסוקים ו'-ח': </a:t>
            </a:r>
            <a:r>
              <a:rPr lang="he-IL" sz="3200" dirty="0">
                <a:latin typeface="David" panose="020E0502060401010101" pitchFamily="34" charset="-79"/>
                <a:cs typeface="David" panose="020E0502060401010101" pitchFamily="34" charset="-79"/>
              </a:rPr>
              <a:t>הציווי לכבוש את הארץ</a:t>
            </a:r>
          </a:p>
        </p:txBody>
      </p:sp>
      <p:sp>
        <p:nvSpPr>
          <p:cNvPr id="3" name="מלבן 2">
            <a:extLst>
              <a:ext uri="{FF2B5EF4-FFF2-40B4-BE49-F238E27FC236}">
                <a16:creationId xmlns:a16="http://schemas.microsoft.com/office/drawing/2014/main" id="{6EA7A7B0-B7DB-412B-9F72-185312FF08E5}"/>
              </a:ext>
            </a:extLst>
          </p:cNvPr>
          <p:cNvSpPr/>
          <p:nvPr/>
        </p:nvSpPr>
        <p:spPr>
          <a:xfrm>
            <a:off x="6413326" y="1011135"/>
            <a:ext cx="5549030" cy="5016758"/>
          </a:xfrm>
          <a:prstGeom prst="rect">
            <a:avLst/>
          </a:prstGeom>
          <a:solidFill>
            <a:schemeClr val="accent4">
              <a:lumMod val="60000"/>
              <a:lumOff val="40000"/>
            </a:schemeClr>
          </a:solidFill>
        </p:spPr>
        <p:txBody>
          <a:bodyPr wrap="square">
            <a:spAutoFit/>
          </a:bodyPr>
          <a:lstStyle/>
          <a:p>
            <a:pPr algn="r"/>
            <a:r>
              <a:rPr lang="he-IL" sz="3200" b="1" dirty="0">
                <a:solidFill>
                  <a:srgbClr val="000000"/>
                </a:solidFill>
                <a:latin typeface="David" panose="020E0502060401010101" pitchFamily="34" charset="-79"/>
                <a:cs typeface="David" panose="020E0502060401010101" pitchFamily="34" charset="-79"/>
              </a:rPr>
              <a:t>ו</a:t>
            </a:r>
            <a:r>
              <a:rPr lang="he-IL" sz="3200" dirty="0">
                <a:solidFill>
                  <a:srgbClr val="000000"/>
                </a:solidFill>
                <a:latin typeface="David" panose="020E0502060401010101" pitchFamily="34" charset="-79"/>
                <a:cs typeface="David" panose="020E0502060401010101" pitchFamily="34" charset="-79"/>
              </a:rPr>
              <a:t> יְהוָ֧ה </a:t>
            </a:r>
            <a:r>
              <a:rPr lang="he-IL" sz="3200" dirty="0" err="1">
                <a:solidFill>
                  <a:srgbClr val="000000"/>
                </a:solidFill>
                <a:latin typeface="David" panose="020E0502060401010101" pitchFamily="34" charset="-79"/>
                <a:cs typeface="David" panose="020E0502060401010101" pitchFamily="34" charset="-79"/>
              </a:rPr>
              <a:t>אֱלֹהֵ֛ינו</a:t>
            </a:r>
            <a:r>
              <a:rPr lang="he-IL" sz="3200" dirty="0">
                <a:solidFill>
                  <a:srgbClr val="000000"/>
                </a:solidFill>
                <a:latin typeface="David" panose="020E0502060401010101" pitchFamily="34" charset="-79"/>
                <a:cs typeface="David" panose="020E0502060401010101" pitchFamily="34" charset="-79"/>
              </a:rPr>
              <a:t>ּ דִּבֶּ֥ר אֵלֵ֖ינוּ בּ</a:t>
            </a:r>
            <a:r>
              <a:rPr lang="he-IL" sz="3200" b="1" dirty="0">
                <a:solidFill>
                  <a:srgbClr val="000000"/>
                </a:solidFill>
                <a:highlight>
                  <a:srgbClr val="FFFF00"/>
                </a:highlight>
                <a:latin typeface="David" panose="020E0502060401010101" pitchFamily="34" charset="-79"/>
                <a:cs typeface="David" panose="020E0502060401010101" pitchFamily="34" charset="-79"/>
              </a:rPr>
              <a:t>ְחֹרֵ֣ב </a:t>
            </a:r>
            <a:r>
              <a:rPr lang="he-IL" sz="3200" dirty="0" err="1">
                <a:solidFill>
                  <a:srgbClr val="000000"/>
                </a:solidFill>
                <a:latin typeface="David" panose="020E0502060401010101" pitchFamily="34" charset="-79"/>
                <a:cs typeface="David" panose="020E0502060401010101" pitchFamily="34" charset="-79"/>
              </a:rPr>
              <a:t>לֵאמֹ֑ר</a:t>
            </a:r>
            <a:r>
              <a:rPr lang="he-IL" sz="3200" dirty="0">
                <a:solidFill>
                  <a:srgbClr val="000000"/>
                </a:solidFill>
                <a:latin typeface="David" panose="020E0502060401010101" pitchFamily="34" charset="-79"/>
                <a:cs typeface="David" panose="020E0502060401010101" pitchFamily="34" charset="-79"/>
              </a:rPr>
              <a:t> </a:t>
            </a:r>
            <a:r>
              <a:rPr lang="he-IL" sz="3200" dirty="0" err="1">
                <a:solidFill>
                  <a:srgbClr val="000000"/>
                </a:solidFill>
                <a:latin typeface="David" panose="020E0502060401010101" pitchFamily="34" charset="-79"/>
                <a:cs typeface="David" panose="020E0502060401010101" pitchFamily="34" charset="-79"/>
              </a:rPr>
              <a:t>רַב־לָכֶ֥ם</a:t>
            </a:r>
            <a:r>
              <a:rPr lang="he-IL" sz="3200" dirty="0">
                <a:solidFill>
                  <a:srgbClr val="000000"/>
                </a:solidFill>
                <a:latin typeface="David" panose="020E0502060401010101" pitchFamily="34" charset="-79"/>
                <a:cs typeface="David" panose="020E0502060401010101" pitchFamily="34" charset="-79"/>
              </a:rPr>
              <a:t> שֶׁ֖בֶת בָּהָ֥ר הַזֶּֽה׃ </a:t>
            </a:r>
          </a:p>
          <a:p>
            <a:pPr algn="r"/>
            <a:r>
              <a:rPr lang="he-IL" sz="3200" b="1" dirty="0">
                <a:solidFill>
                  <a:srgbClr val="000000"/>
                </a:solidFill>
                <a:latin typeface="David" panose="020E0502060401010101" pitchFamily="34" charset="-79"/>
                <a:cs typeface="David" panose="020E0502060401010101" pitchFamily="34" charset="-79"/>
              </a:rPr>
              <a:t>ז</a:t>
            </a:r>
            <a:r>
              <a:rPr lang="he-IL" sz="3200" dirty="0">
                <a:solidFill>
                  <a:srgbClr val="000000"/>
                </a:solidFill>
                <a:latin typeface="David" panose="020E0502060401010101" pitchFamily="34" charset="-79"/>
                <a:cs typeface="David" panose="020E0502060401010101" pitchFamily="34" charset="-79"/>
              </a:rPr>
              <a:t> פְּנ֣וּ ׀ וּסְע֣וּ לָכֶ֗ם וּבֹ֨אוּ הַ֥ר </a:t>
            </a:r>
            <a:r>
              <a:rPr lang="he-IL" sz="3200" dirty="0" err="1">
                <a:solidFill>
                  <a:srgbClr val="000000"/>
                </a:solidFill>
                <a:latin typeface="David" panose="020E0502060401010101" pitchFamily="34" charset="-79"/>
                <a:cs typeface="David" panose="020E0502060401010101" pitchFamily="34" charset="-79"/>
              </a:rPr>
              <a:t>הָֽאֱמֹרִי</a:t>
            </a:r>
            <a:r>
              <a:rPr lang="he-IL" sz="3200" dirty="0">
                <a:solidFill>
                  <a:srgbClr val="000000"/>
                </a:solidFill>
                <a:latin typeface="David" panose="020E0502060401010101" pitchFamily="34" charset="-79"/>
                <a:cs typeface="David" panose="020E0502060401010101" pitchFamily="34" charset="-79"/>
              </a:rPr>
              <a:t>֮ </a:t>
            </a:r>
            <a:r>
              <a:rPr lang="he-IL" sz="3200" dirty="0" err="1">
                <a:solidFill>
                  <a:srgbClr val="000000"/>
                </a:solidFill>
                <a:latin typeface="David" panose="020E0502060401010101" pitchFamily="34" charset="-79"/>
                <a:cs typeface="David" panose="020E0502060401010101" pitchFamily="34" charset="-79"/>
              </a:rPr>
              <a:t>וְאֶל־כָּל־שְׁכֵנָיו</a:t>
            </a:r>
            <a:r>
              <a:rPr lang="he-IL" sz="3200" dirty="0">
                <a:solidFill>
                  <a:srgbClr val="000000"/>
                </a:solidFill>
                <a:latin typeface="David" panose="020E0502060401010101" pitchFamily="34" charset="-79"/>
                <a:cs typeface="David" panose="020E0502060401010101" pitchFamily="34" charset="-79"/>
              </a:rPr>
              <a:t>֒ בָּֽעֲרָבָ֥ה בָהָ֛ר וּבַשְּׁפֵלָ֥ה וּבַנֶּ֖גֶב וּבְח֣וֹף הַיָּ֑ם אֶ֤רֶץ הַֽכְּנַעֲנִי֙ וְהַלְּבָנ֔וֹן </a:t>
            </a:r>
            <a:r>
              <a:rPr lang="he-IL" sz="3200" dirty="0" err="1">
                <a:solidFill>
                  <a:srgbClr val="000000"/>
                </a:solidFill>
                <a:latin typeface="David" panose="020E0502060401010101" pitchFamily="34" charset="-79"/>
                <a:cs typeface="David" panose="020E0502060401010101" pitchFamily="34" charset="-79"/>
              </a:rPr>
              <a:t>עַד־הַנָּהָ֥ר</a:t>
            </a:r>
            <a:r>
              <a:rPr lang="he-IL" sz="3200" dirty="0">
                <a:solidFill>
                  <a:srgbClr val="000000"/>
                </a:solidFill>
                <a:latin typeface="David" panose="020E0502060401010101" pitchFamily="34" charset="-79"/>
                <a:cs typeface="David" panose="020E0502060401010101" pitchFamily="34" charset="-79"/>
              </a:rPr>
              <a:t> הַגָּדֹ֖ל </a:t>
            </a:r>
            <a:r>
              <a:rPr lang="he-IL" sz="3200" dirty="0" err="1">
                <a:solidFill>
                  <a:srgbClr val="000000"/>
                </a:solidFill>
                <a:latin typeface="David" panose="020E0502060401010101" pitchFamily="34" charset="-79"/>
                <a:cs typeface="David" panose="020E0502060401010101" pitchFamily="34" charset="-79"/>
              </a:rPr>
              <a:t>נְהַר־פְּרָֽת</a:t>
            </a:r>
            <a:r>
              <a:rPr lang="he-IL" sz="3200" dirty="0">
                <a:solidFill>
                  <a:srgbClr val="000000"/>
                </a:solidFill>
                <a:latin typeface="David" panose="020E0502060401010101" pitchFamily="34" charset="-79"/>
                <a:cs typeface="David" panose="020E0502060401010101" pitchFamily="34" charset="-79"/>
              </a:rPr>
              <a:t>׃ </a:t>
            </a:r>
          </a:p>
          <a:p>
            <a:pPr algn="r"/>
            <a:r>
              <a:rPr lang="he-IL" sz="3200" b="1" dirty="0">
                <a:solidFill>
                  <a:srgbClr val="000000"/>
                </a:solidFill>
                <a:latin typeface="David" panose="020E0502060401010101" pitchFamily="34" charset="-79"/>
                <a:cs typeface="David" panose="020E0502060401010101" pitchFamily="34" charset="-79"/>
              </a:rPr>
              <a:t>ח</a:t>
            </a:r>
            <a:r>
              <a:rPr lang="he-IL" sz="3200" dirty="0">
                <a:solidFill>
                  <a:srgbClr val="000000"/>
                </a:solidFill>
                <a:latin typeface="David" panose="020E0502060401010101" pitchFamily="34" charset="-79"/>
                <a:cs typeface="David" panose="020E0502060401010101" pitchFamily="34" charset="-79"/>
              </a:rPr>
              <a:t> </a:t>
            </a:r>
            <a:r>
              <a:rPr lang="he-IL" sz="3200" dirty="0">
                <a:solidFill>
                  <a:srgbClr val="000000"/>
                </a:solidFill>
                <a:highlight>
                  <a:srgbClr val="FFFF00"/>
                </a:highlight>
                <a:latin typeface="David" panose="020E0502060401010101" pitchFamily="34" charset="-79"/>
                <a:cs typeface="David" panose="020E0502060401010101" pitchFamily="34" charset="-79"/>
              </a:rPr>
              <a:t>רְאֵ֛ה נָתַ֥תִּי לִפְנֵיכֶ֖ם </a:t>
            </a:r>
            <a:r>
              <a:rPr lang="he-IL" sz="3200" dirty="0" err="1">
                <a:solidFill>
                  <a:srgbClr val="000000"/>
                </a:solidFill>
                <a:highlight>
                  <a:srgbClr val="FFFF00"/>
                </a:highlight>
                <a:latin typeface="David" panose="020E0502060401010101" pitchFamily="34" charset="-79"/>
                <a:cs typeface="David" panose="020E0502060401010101" pitchFamily="34" charset="-79"/>
              </a:rPr>
              <a:t>אֶת־הָאָ֑רֶץ</a:t>
            </a:r>
            <a:r>
              <a:rPr lang="he-IL" sz="3200" dirty="0">
                <a:solidFill>
                  <a:srgbClr val="000000"/>
                </a:solidFill>
                <a:highlight>
                  <a:srgbClr val="FFFF00"/>
                </a:highlight>
                <a:latin typeface="David" panose="020E0502060401010101" pitchFamily="34" charset="-79"/>
                <a:cs typeface="David" panose="020E0502060401010101" pitchFamily="34" charset="-79"/>
              </a:rPr>
              <a:t> </a:t>
            </a:r>
            <a:r>
              <a:rPr lang="he-IL" sz="3200" dirty="0">
                <a:solidFill>
                  <a:srgbClr val="000000"/>
                </a:solidFill>
                <a:latin typeface="David" panose="020E0502060401010101" pitchFamily="34" charset="-79"/>
                <a:cs typeface="David" panose="020E0502060401010101" pitchFamily="34" charset="-79"/>
              </a:rPr>
              <a:t>בֹּ֚אוּ וּרְשׁ֣וּ </a:t>
            </a:r>
            <a:r>
              <a:rPr lang="he-IL" sz="3200" dirty="0" err="1">
                <a:solidFill>
                  <a:srgbClr val="000000"/>
                </a:solidFill>
                <a:latin typeface="David" panose="020E0502060401010101" pitchFamily="34" charset="-79"/>
                <a:cs typeface="David" panose="020E0502060401010101" pitchFamily="34" charset="-79"/>
              </a:rPr>
              <a:t>אֶת־הָאָ֔רֶץ</a:t>
            </a:r>
            <a:r>
              <a:rPr lang="he-IL" sz="3200" dirty="0">
                <a:solidFill>
                  <a:srgbClr val="000000"/>
                </a:solidFill>
                <a:latin typeface="David" panose="020E0502060401010101" pitchFamily="34" charset="-79"/>
                <a:cs typeface="David" panose="020E0502060401010101" pitchFamily="34" charset="-79"/>
              </a:rPr>
              <a:t> אֲשֶׁ֣ר נִשְׁבַּ֣ע יְ֠הוָה </a:t>
            </a:r>
            <a:r>
              <a:rPr lang="he-IL" sz="3200" dirty="0" err="1">
                <a:solidFill>
                  <a:srgbClr val="000000"/>
                </a:solidFill>
                <a:latin typeface="David" panose="020E0502060401010101" pitchFamily="34" charset="-79"/>
                <a:cs typeface="David" panose="020E0502060401010101" pitchFamily="34" charset="-79"/>
              </a:rPr>
              <a:t>לַאֲבֹ֨תֵיכֶ֜ם</a:t>
            </a:r>
            <a:r>
              <a:rPr lang="he-IL" sz="3200" dirty="0">
                <a:solidFill>
                  <a:srgbClr val="000000"/>
                </a:solidFill>
                <a:latin typeface="David" panose="020E0502060401010101" pitchFamily="34" charset="-79"/>
                <a:cs typeface="David" panose="020E0502060401010101" pitchFamily="34" charset="-79"/>
              </a:rPr>
              <a:t> לְאַבְרָהָ֨ם לְיִצְחָ֤ק וּֽלְיַעֲקֹב֙ לָתֵ֣ת לָהֶ֔ם וּלְזַרְעָ֖ם אַֽחֲרֵיהֶֽם׃</a:t>
            </a:r>
            <a:endParaRPr lang="he-IL" sz="3200" dirty="0">
              <a:latin typeface="David" panose="020E0502060401010101" pitchFamily="34" charset="-79"/>
              <a:cs typeface="David" panose="020E0502060401010101" pitchFamily="34" charset="-79"/>
            </a:endParaRPr>
          </a:p>
        </p:txBody>
      </p:sp>
      <p:sp>
        <p:nvSpPr>
          <p:cNvPr id="4" name="TextBox 3">
            <a:extLst>
              <a:ext uri="{FF2B5EF4-FFF2-40B4-BE49-F238E27FC236}">
                <a16:creationId xmlns:a16="http://schemas.microsoft.com/office/drawing/2014/main" id="{B7546A06-CA7B-44AE-A243-13413B438129}"/>
              </a:ext>
            </a:extLst>
          </p:cNvPr>
          <p:cNvSpPr txBox="1"/>
          <p:nvPr/>
        </p:nvSpPr>
        <p:spPr>
          <a:xfrm>
            <a:off x="229644" y="1011135"/>
            <a:ext cx="5866356" cy="4154984"/>
          </a:xfrm>
          <a:prstGeom prst="rect">
            <a:avLst/>
          </a:prstGeom>
          <a:solidFill>
            <a:schemeClr val="accent2">
              <a:lumMod val="40000"/>
              <a:lumOff val="60000"/>
            </a:schemeClr>
          </a:solidFill>
          <a:ln w="28575">
            <a:solidFill>
              <a:schemeClr val="tx1"/>
            </a:solidFill>
          </a:ln>
        </p:spPr>
        <p:txBody>
          <a:bodyPr wrap="square" rtlCol="1">
            <a:spAutoFit/>
          </a:bodyPr>
          <a:lstStyle/>
          <a:p>
            <a:pPr algn="r"/>
            <a:r>
              <a:rPr lang="he-IL" sz="2400" b="1" u="sng" dirty="0">
                <a:latin typeface="David" panose="020E0502060401010101" pitchFamily="34" charset="-79"/>
                <a:cs typeface="David" panose="020E0502060401010101" pitchFamily="34" charset="-79"/>
              </a:rPr>
              <a:t>ו. </a:t>
            </a:r>
            <a:r>
              <a:rPr lang="he-IL" sz="2400" dirty="0">
                <a:latin typeface="David" panose="020E0502060401010101" pitchFamily="34" charset="-79"/>
                <a:cs typeface="David" panose="020E0502060401010101" pitchFamily="34" charset="-79"/>
              </a:rPr>
              <a:t>ה' אלוקינו דיבר אלינו כשהיינו ליד הר סיני ואמר לנו מספיק זמן כבר חניתם ליד ההר הזה. </a:t>
            </a:r>
          </a:p>
          <a:p>
            <a:pPr algn="r"/>
            <a:r>
              <a:rPr lang="he-IL" sz="2400" b="1" u="sng" dirty="0">
                <a:latin typeface="David" panose="020E0502060401010101" pitchFamily="34" charset="-79"/>
                <a:cs typeface="David" panose="020E0502060401010101" pitchFamily="34" charset="-79"/>
              </a:rPr>
              <a:t>ז. </a:t>
            </a:r>
            <a:r>
              <a:rPr lang="he-IL" sz="2400" dirty="0">
                <a:latin typeface="David" panose="020E0502060401010101" pitchFamily="34" charset="-79"/>
                <a:cs typeface="David" panose="020E0502060401010101" pitchFamily="34" charset="-79"/>
              </a:rPr>
              <a:t>תזוזו מכאן ותלכו לכיוון ההר שבו יושב העם האמורי וכן אל העמים שנמצאים סביבו. ובהתחלה תכבשו את הערבה ההר והשפלה והנגב ואת חוף הים- כל אלה אזורים בארץ כנען והלבנון, שמגיע עד הנהר החשוב- נהר פרת. </a:t>
            </a:r>
          </a:p>
          <a:p>
            <a:pPr algn="r"/>
            <a:r>
              <a:rPr lang="he-IL" sz="2400" dirty="0">
                <a:latin typeface="David" panose="020E0502060401010101" pitchFamily="34" charset="-79"/>
                <a:cs typeface="David" panose="020E0502060401010101" pitchFamily="34" charset="-79"/>
              </a:rPr>
              <a:t>ח. אתם רואים בעיניכם שנתתי לפניכם את הארץ כאשר תבואו תרשו את הארץ מיד, שה' נשבע לאבות שלכם לאברהם ליצחק ליעקב, שאתן אותה להם ולצאצאים שלהם.</a:t>
            </a:r>
          </a:p>
        </p:txBody>
      </p:sp>
    </p:spTree>
    <p:extLst>
      <p:ext uri="{BB962C8B-B14F-4D97-AF65-F5344CB8AC3E}">
        <p14:creationId xmlns:p14="http://schemas.microsoft.com/office/powerpoint/2010/main" val="350456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theme/theme1.xml><?xml version="1.0" encoding="utf-8"?>
<a:theme xmlns:a="http://schemas.openxmlformats.org/drawingml/2006/main" name="טיפה">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TM04033925[[fn=טיפה]]</Template>
  <TotalTime>41777</TotalTime>
  <Words>1541</Words>
  <Application>Microsoft Office PowerPoint</Application>
  <PresentationFormat>מסך רחב</PresentationFormat>
  <Paragraphs>117</Paragraphs>
  <Slides>11</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11</vt:i4>
      </vt:variant>
    </vt:vector>
  </HeadingPairs>
  <TitlesOfParts>
    <vt:vector size="17" baseType="lpstr">
      <vt:lpstr>Arial</vt:lpstr>
      <vt:lpstr>David</vt:lpstr>
      <vt:lpstr>Guttman Mantova</vt:lpstr>
      <vt:lpstr>Times New Roman</vt:lpstr>
      <vt:lpstr>Tw Cen MT</vt:lpstr>
      <vt:lpstr>טיפה</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Teacher</dc:creator>
  <cp:lastModifiedBy>Teacher</cp:lastModifiedBy>
  <cp:revision>59</cp:revision>
  <dcterms:created xsi:type="dcterms:W3CDTF">2021-07-25T12:17:15Z</dcterms:created>
  <dcterms:modified xsi:type="dcterms:W3CDTF">2021-09-01T19:50:08Z</dcterms:modified>
</cp:coreProperties>
</file>